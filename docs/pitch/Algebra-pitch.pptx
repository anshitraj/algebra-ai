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a:t>
            </a:r>
          </a:p>
          <a:p>
            <a:r>
              <a:t>Hi, we're building Algebra. AI agents are starting to pay for things themselves: data, search, inference, all paid per call in USDC over x402.</a:t>
            </a:r>
          </a:p>
          <a:p>
            <a:r>
              <a:t>Algebra is the router and the spend firewall that sits between the agent and that money.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a:t>
            </a:r>
          </a:p>
          <a:p>
            <a:r>
              <a:t>The moment an agent can pay, three questions come up, and none of them can be left to the model.</a:t>
            </a:r>
          </a:p>
          <a:p>
            <a:r>
              <a:t>One: which provider? There are over 1,600 paid APIs across four catalogs. Some are down, some charge more than they list, and some are honeypots priced at $25 a call, waiting for an agent that pays whatever it's asked.</a:t>
            </a:r>
          </a:p>
          <a:p>
            <a:r>
              <a:t>Two: how do you stop it overspending? A line in the prompt is not a budget.</a:t>
            </a:r>
          </a:p>
          <a:p>
            <a:r>
              <a:t>Three: did it pay exactly once? A timeout doesn't tell you whether money moved.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a:t>
            </a:r>
          </a:p>
          <a:p>
            <a:r>
              <a:t>Here's how it works. The agent doesn't pick a provider. It asks for a kind of work, say a token price, and the most it will pay.</a:t>
            </a:r>
          </a:p>
          <a:p>
            <a:r>
              <a:t>Its Spend Pass checks the request first: budget, per-call cap, which providers are allowed, how fast it can spend, and a kill switch.</a:t>
            </a:r>
          </a:p>
          <a:p>
            <a:r>
              <a:t>Then the router asks every provider that can do the job for its real price, all at once. It drops the ones that are down, the ones charging more than they list, and the traps.</a:t>
            </a:r>
          </a:p>
          <a:p>
            <a:r>
              <a:t>It pays the best one in USDC on Solana, from a wallet the agent never holds, and hands back the answer with a signed receipt.</a:t>
            </a:r>
          </a:p>
          <a:p>
            <a:r>
              <a:t>It's one REST call, or an MCP tool, so it works with Claude Code, Cursor or the OpenAI Agents SDK.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a:t>
            </a:r>
          </a:p>
          <a:p>
            <a:r>
              <a:t>And this is why it's on Solana. The Spend Pass isn't only a row in our database. It's an account owned by our own Anchor program, live on devnet.</a:t>
            </a:r>
          </a:p>
          <a:p>
            <a:r>
              <a:t>Your wallet funds a vault. Algebra can pull from it one payment at a time, and the program checks every pull against the cap, the budget, the window and the expiry.</a:t>
            </a:r>
          </a:p>
          <a:p>
            <a:r>
              <a:t>You can freeze it from your own wallet, and we can't undo that. So even if our server were compromised, it couldn't take more than the pass allows.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a:t>
            </a:r>
          </a:p>
          <a:p>
            <a:r>
              <a:t>Where it stands: over 1,600 providers from four catalogs, grouped into 14 kinds of work. Real devnet USDC payments, including pulls from the on-chain pass. The same request sent twice pays once.</a:t>
            </a:r>
          </a:p>
          <a:p>
            <a:r>
              <a:t>Mainnet is read-only on purpose until the program is audited.</a:t>
            </a:r>
          </a:p>
          <a:p>
            <a:r>
              <a:t>Now let me show you the core of it: the router and the firewall.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while you switch to the browser]</a:t>
            </a:r>
          </a:p>
          <a:p>
            <a:r>
              <a:t>I'll do this in the sandbox so it's quick and nothing can go wrong with a faucet, but it's the same code path that pays real USDC on devnet.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a:t>
            </a:r>
          </a:p>
          <a:p>
            <a:r>
              <a:t>So that's Algebra: agents can spend, and Algebra decides how much.</a:t>
            </a:r>
          </a:p>
          <a:p>
            <a:r>
              <a:t>Next up is an audit of the program, then real mainnet payments behind on-chain passes.</a:t>
            </a:r>
          </a:p>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8F3"/>
        </a:solidFill>
        <a:effectLst/>
      </p:bgPr>
    </p:bg>
    <p:spTree>
      <p:nvGrpSpPr>
        <p:cNvPr id="1" name=""/>
        <p:cNvGrpSpPr/>
        <p:nvPr/>
      </p:nvGrpSpPr>
      <p:grpSpPr/>
      <p:sp>
        <p:nvSpPr>
          <p:cNvPr id="2" name="Rounded Rectangle 1"/>
          <p:cNvSpPr/>
          <p:nvPr/>
        </p:nvSpPr>
        <p:spPr>
          <a:xfrm>
            <a:off x="640080" y="548640"/>
            <a:ext cx="384048" cy="384048"/>
          </a:xfrm>
          <a:prstGeom prst="roundRect">
            <a:avLst>
              <a:gd name="adj" fmla="val 28000"/>
            </a:avLst>
          </a:prstGeom>
          <a:noFill/>
          <a:ln w="28575">
            <a:solidFill>
              <a:srgbClr val="22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3" y="548640"/>
            <a:ext cx="384048" cy="384048"/>
          </a:xfrm>
          <a:prstGeom prst="roundRect">
            <a:avLst>
              <a:gd name="adj" fmla="val 28000"/>
            </a:avLst>
          </a:prstGeom>
          <a:noFill/>
          <a:ln w="28575">
            <a:solidFill>
              <a:srgbClr val="22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3657600" cy="365760"/>
          </a:xfrm>
          <a:prstGeom prst="rect">
            <a:avLst/>
          </a:prstGeom>
          <a:noFill/>
        </p:spPr>
        <p:txBody>
          <a:bodyPr wrap="square" lIns="0" rIns="0" tIns="0" bIns="0" anchor="t">
            <a:spAutoFit/>
          </a:bodyPr>
          <a:lstStyle/>
          <a:p>
            <a:pPr algn="l"/>
            <a:r>
              <a:rPr sz="2200" b="1" i="0">
                <a:solidFill>
                  <a:srgbClr val="22241F"/>
                </a:solidFill>
                <a:latin typeface="Helvetica Neue"/>
              </a:rPr>
              <a:t>Algebra</a:t>
            </a:r>
          </a:p>
        </p:txBody>
      </p:sp>
      <p:sp>
        <p:nvSpPr>
          <p:cNvPr id="5" name="TextBox 4"/>
          <p:cNvSpPr txBox="1"/>
          <p:nvPr/>
        </p:nvSpPr>
        <p:spPr>
          <a:xfrm>
            <a:off x="640080" y="1828800"/>
            <a:ext cx="10972800" cy="1188720"/>
          </a:xfrm>
          <a:prstGeom prst="rect">
            <a:avLst/>
          </a:prstGeom>
          <a:noFill/>
        </p:spPr>
        <p:txBody>
          <a:bodyPr wrap="square" lIns="0" rIns="0" tIns="0" bIns="0" anchor="t">
            <a:spAutoFit/>
          </a:bodyPr>
          <a:lstStyle/>
          <a:p>
            <a:pPr algn="l"/>
            <a:r>
              <a:rPr sz="7200" b="1" i="0">
                <a:solidFill>
                  <a:srgbClr val="22241F"/>
                </a:solidFill>
                <a:latin typeface="Helvetica Neue"/>
              </a:rPr>
              <a:t>Let your agent pay.</a:t>
            </a:r>
          </a:p>
        </p:txBody>
      </p:sp>
      <p:sp>
        <p:nvSpPr>
          <p:cNvPr id="6" name="TextBox 5"/>
          <p:cNvSpPr txBox="1"/>
          <p:nvPr/>
        </p:nvSpPr>
        <p:spPr>
          <a:xfrm>
            <a:off x="640080" y="3017520"/>
            <a:ext cx="10972800" cy="1188720"/>
          </a:xfrm>
          <a:prstGeom prst="rect">
            <a:avLst/>
          </a:prstGeom>
          <a:noFill/>
        </p:spPr>
        <p:txBody>
          <a:bodyPr wrap="square" lIns="0" rIns="0" tIns="0" bIns="0" anchor="t">
            <a:spAutoFit/>
          </a:bodyPr>
          <a:lstStyle/>
          <a:p>
            <a:pPr algn="l"/>
            <a:r>
              <a:rPr sz="6800" b="0" i="1">
                <a:solidFill>
                  <a:srgbClr val="666B60"/>
                </a:solidFill>
                <a:latin typeface="Georgia"/>
              </a:rPr>
              <a:t>Never let it overspend.</a:t>
            </a:r>
          </a:p>
        </p:txBody>
      </p:sp>
      <p:sp>
        <p:nvSpPr>
          <p:cNvPr id="7" name="TextBox 6"/>
          <p:cNvSpPr txBox="1"/>
          <p:nvPr/>
        </p:nvSpPr>
        <p:spPr>
          <a:xfrm>
            <a:off x="640080" y="4480560"/>
            <a:ext cx="8686800" cy="914400"/>
          </a:xfrm>
          <a:prstGeom prst="rect">
            <a:avLst/>
          </a:prstGeom>
          <a:noFill/>
        </p:spPr>
        <p:txBody>
          <a:bodyPr wrap="square" lIns="0" rIns="0" tIns="0" bIns="0" anchor="t">
            <a:spAutoFit/>
          </a:bodyPr>
          <a:lstStyle/>
          <a:p>
            <a:pPr algn="l"/>
            <a:r>
              <a:rPr sz="2200" b="0" i="0">
                <a:solidFill>
                  <a:srgbClr val="22241F"/>
                </a:solidFill>
                <a:latin typeface="Helvetica Neue"/>
              </a:rPr>
              <a:t>The router and spend firewall for AI agents that pay for APIs in USDC on Solana.</a:t>
            </a:r>
          </a:p>
        </p:txBody>
      </p:sp>
      <p:sp>
        <p:nvSpPr>
          <p:cNvPr id="8" name="Rounded Rectangle 7"/>
          <p:cNvSpPr/>
          <p:nvPr/>
        </p:nvSpPr>
        <p:spPr>
          <a:xfrm>
            <a:off x="640080" y="5532120"/>
            <a:ext cx="5120640" cy="438912"/>
          </a:xfrm>
          <a:prstGeom prst="roundRect">
            <a:avLst>
              <a:gd name="adj" fmla="val 50000"/>
            </a:avLst>
          </a:prstGeom>
          <a:solidFill>
            <a:srgbClr val="BAD5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5532120"/>
            <a:ext cx="5120640" cy="438912"/>
          </a:xfrm>
          <a:prstGeom prst="rect">
            <a:avLst/>
          </a:prstGeom>
          <a:noFill/>
        </p:spPr>
        <p:txBody>
          <a:bodyPr wrap="square" lIns="0" rIns="0" tIns="0" bIns="0" anchor="ctr">
            <a:spAutoFit/>
          </a:bodyPr>
          <a:lstStyle/>
          <a:p>
            <a:pPr algn="ctr"/>
            <a:r>
              <a:rPr sz="1300" b="0" i="0">
                <a:solidFill>
                  <a:srgbClr val="2D3927"/>
                </a:solidFill>
                <a:latin typeface="Menlo"/>
              </a:rPr>
              <a:t>●  Live on Solana devnet  ·  program 46gQ…9tdS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3"/>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lIns="0" rIns="0" tIns="0" bIns="0" anchor="t">
            <a:spAutoFit/>
          </a:bodyPr>
          <a:lstStyle/>
          <a:p>
            <a:pPr algn="l"/>
            <a:r>
              <a:rPr sz="1100" b="0" i="0">
                <a:solidFill>
                  <a:srgbClr val="666B60"/>
                </a:solidFill>
                <a:latin typeface="Menlo"/>
              </a:rPr>
              <a:t>THE PROBLEM</a:t>
            </a:r>
          </a:p>
        </p:txBody>
      </p:sp>
      <p:sp>
        <p:nvSpPr>
          <p:cNvPr id="3" name="TextBox 2"/>
          <p:cNvSpPr txBox="1"/>
          <p:nvPr/>
        </p:nvSpPr>
        <p:spPr>
          <a:xfrm>
            <a:off x="9722815" y="6355080"/>
            <a:ext cx="1828800" cy="274320"/>
          </a:xfrm>
          <a:prstGeom prst="rect">
            <a:avLst/>
          </a:prstGeom>
          <a:noFill/>
        </p:spPr>
        <p:txBody>
          <a:bodyPr wrap="square" lIns="0" rIns="0" tIns="0" bIns="0" anchor="t">
            <a:spAutoFit/>
          </a:bodyPr>
          <a:lstStyle/>
          <a:p>
            <a:pPr algn="r"/>
            <a:r>
              <a:rPr sz="1000" b="0" i="0">
                <a:solidFill>
                  <a:srgbClr val="666B60"/>
                </a:solidFill>
                <a:latin typeface="Menlo"/>
              </a:rPr>
              <a:t>ALGEBRA  ·  02</a:t>
            </a:r>
          </a:p>
        </p:txBody>
      </p:sp>
      <p:cxnSp>
        <p:nvCxnSpPr>
          <p:cNvPr id="4" name="Connector 3"/>
          <p:cNvCxnSpPr/>
          <p:nvPr/>
        </p:nvCxnSpPr>
        <p:spPr>
          <a:xfrm>
            <a:off x="640080" y="6217920"/>
            <a:ext cx="10911535" cy="0"/>
          </a:xfrm>
          <a:prstGeom prst="line">
            <a:avLst/>
          </a:prstGeom>
          <a:ln w="9525">
            <a:solidFill>
              <a:srgbClr val="DEDFD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i="0">
                <a:solidFill>
                  <a:srgbClr val="22241F"/>
                </a:solidFill>
                <a:latin typeface="Helvetica Neue"/>
              </a:rPr>
              <a:t>Give an agent a wallet and you get </a:t>
            </a:r>
            <a:r>
              <a:rPr sz="3600" b="0" i="1">
                <a:solidFill>
                  <a:srgbClr val="22241F"/>
                </a:solidFill>
                <a:latin typeface="Georgia"/>
              </a:rPr>
              <a:t>three problems</a:t>
            </a:r>
          </a:p>
        </p:txBody>
      </p:sp>
      <p:sp>
        <p:nvSpPr>
          <p:cNvPr id="6" name="Rounded Rectangle 5"/>
          <p:cNvSpPr/>
          <p:nvPr/>
        </p:nvSpPr>
        <p:spPr>
          <a:xfrm>
            <a:off x="640080" y="2240280"/>
            <a:ext cx="3493008" cy="352044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19" y="2560320"/>
            <a:ext cx="914400" cy="365760"/>
          </a:xfrm>
          <a:prstGeom prst="rect">
            <a:avLst/>
          </a:prstGeom>
          <a:noFill/>
        </p:spPr>
        <p:txBody>
          <a:bodyPr wrap="square" lIns="0" rIns="0" tIns="0" bIns="0" anchor="t">
            <a:spAutoFit/>
          </a:bodyPr>
          <a:lstStyle/>
          <a:p>
            <a:pPr algn="l"/>
            <a:r>
              <a:rPr sz="1400" b="0" i="0">
                <a:solidFill>
                  <a:srgbClr val="666B60"/>
                </a:solidFill>
                <a:latin typeface="Menlo"/>
              </a:rPr>
              <a:t>01</a:t>
            </a:r>
          </a:p>
        </p:txBody>
      </p:sp>
      <p:sp>
        <p:nvSpPr>
          <p:cNvPr id="8" name="TextBox 7"/>
          <p:cNvSpPr txBox="1"/>
          <p:nvPr/>
        </p:nvSpPr>
        <p:spPr>
          <a:xfrm>
            <a:off x="960119" y="3017520"/>
            <a:ext cx="2852928" cy="914400"/>
          </a:xfrm>
          <a:prstGeom prst="rect">
            <a:avLst/>
          </a:prstGeom>
          <a:noFill/>
        </p:spPr>
        <p:txBody>
          <a:bodyPr wrap="square" lIns="0" rIns="0" tIns="0" bIns="0" anchor="t">
            <a:spAutoFit/>
          </a:bodyPr>
          <a:lstStyle/>
          <a:p>
            <a:pPr algn="l"/>
            <a:r>
              <a:rPr sz="2400" b="1" i="0">
                <a:solidFill>
                  <a:srgbClr val="22241F"/>
                </a:solidFill>
                <a:latin typeface="Helvetica Neue"/>
              </a:rPr>
              <a:t>Which provider?</a:t>
            </a:r>
          </a:p>
        </p:txBody>
      </p:sp>
      <p:sp>
        <p:nvSpPr>
          <p:cNvPr id="9" name="TextBox 8"/>
          <p:cNvSpPr txBox="1"/>
          <p:nvPr/>
        </p:nvSpPr>
        <p:spPr>
          <a:xfrm>
            <a:off x="960119" y="4023360"/>
            <a:ext cx="2852928" cy="1645920"/>
          </a:xfrm>
          <a:prstGeom prst="rect">
            <a:avLst/>
          </a:prstGeom>
          <a:noFill/>
        </p:spPr>
        <p:txBody>
          <a:bodyPr wrap="square" lIns="0" rIns="0" tIns="0" bIns="0" anchor="t">
            <a:spAutoFit/>
          </a:bodyPr>
          <a:lstStyle/>
          <a:p>
            <a:pPr algn="l"/>
            <a:r>
              <a:rPr sz="1500" b="0" i="0">
                <a:solidFill>
                  <a:srgbClr val="666B60"/>
                </a:solidFill>
                <a:latin typeface="Helvetica Neue"/>
              </a:rPr>
              <a:t>1,600+ paid APIs across four catalogs, under different names and prices. Some are down. Some charge more than they list. Some are traps priced at $25 a call.</a:t>
            </a:r>
          </a:p>
        </p:txBody>
      </p:sp>
      <p:sp>
        <p:nvSpPr>
          <p:cNvPr id="10" name="Rounded Rectangle 9"/>
          <p:cNvSpPr/>
          <p:nvPr/>
        </p:nvSpPr>
        <p:spPr>
          <a:xfrm>
            <a:off x="4407408" y="2240280"/>
            <a:ext cx="3493008" cy="352044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27448" y="2560320"/>
            <a:ext cx="914400" cy="365760"/>
          </a:xfrm>
          <a:prstGeom prst="rect">
            <a:avLst/>
          </a:prstGeom>
          <a:noFill/>
        </p:spPr>
        <p:txBody>
          <a:bodyPr wrap="square" lIns="0" rIns="0" tIns="0" bIns="0" anchor="t">
            <a:spAutoFit/>
          </a:bodyPr>
          <a:lstStyle/>
          <a:p>
            <a:pPr algn="l"/>
            <a:r>
              <a:rPr sz="1400" b="0" i="0">
                <a:solidFill>
                  <a:srgbClr val="666B60"/>
                </a:solidFill>
                <a:latin typeface="Menlo"/>
              </a:rPr>
              <a:t>02</a:t>
            </a:r>
          </a:p>
        </p:txBody>
      </p:sp>
      <p:sp>
        <p:nvSpPr>
          <p:cNvPr id="12" name="TextBox 11"/>
          <p:cNvSpPr txBox="1"/>
          <p:nvPr/>
        </p:nvSpPr>
        <p:spPr>
          <a:xfrm>
            <a:off x="4727448" y="3017520"/>
            <a:ext cx="2852928" cy="914400"/>
          </a:xfrm>
          <a:prstGeom prst="rect">
            <a:avLst/>
          </a:prstGeom>
          <a:noFill/>
        </p:spPr>
        <p:txBody>
          <a:bodyPr wrap="square" lIns="0" rIns="0" tIns="0" bIns="0" anchor="t">
            <a:spAutoFit/>
          </a:bodyPr>
          <a:lstStyle/>
          <a:p>
            <a:pPr algn="l"/>
            <a:r>
              <a:rPr sz="2400" b="1" i="0">
                <a:solidFill>
                  <a:srgbClr val="22241F"/>
                </a:solidFill>
                <a:latin typeface="Helvetica Neue"/>
              </a:rPr>
              <a:t>How do I stop it overspending?</a:t>
            </a:r>
          </a:p>
        </p:txBody>
      </p:sp>
      <p:sp>
        <p:nvSpPr>
          <p:cNvPr id="13" name="TextBox 12"/>
          <p:cNvSpPr txBox="1"/>
          <p:nvPr/>
        </p:nvSpPr>
        <p:spPr>
          <a:xfrm>
            <a:off x="4727448" y="4023360"/>
            <a:ext cx="2852928" cy="1645920"/>
          </a:xfrm>
          <a:prstGeom prst="rect">
            <a:avLst/>
          </a:prstGeom>
          <a:noFill/>
        </p:spPr>
        <p:txBody>
          <a:bodyPr wrap="square" lIns="0" rIns="0" tIns="0" bIns="0" anchor="t">
            <a:spAutoFit/>
          </a:bodyPr>
          <a:lstStyle/>
          <a:p>
            <a:pPr algn="l"/>
            <a:r>
              <a:rPr sz="1500" b="0" i="0">
                <a:solidFill>
                  <a:srgbClr val="666B60"/>
                </a:solidFill>
                <a:latin typeface="Helvetica Neue"/>
              </a:rPr>
              <a:t>“Please be careful” in a prompt is not a budget. You need caps, allow-lists, approvals and a kill switch the model can't talk its way past.</a:t>
            </a:r>
          </a:p>
        </p:txBody>
      </p:sp>
      <p:sp>
        <p:nvSpPr>
          <p:cNvPr id="14" name="Rounded Rectangle 13"/>
          <p:cNvSpPr/>
          <p:nvPr/>
        </p:nvSpPr>
        <p:spPr>
          <a:xfrm>
            <a:off x="8174736" y="2240280"/>
            <a:ext cx="3493008" cy="352044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94776" y="2560320"/>
            <a:ext cx="914400" cy="365760"/>
          </a:xfrm>
          <a:prstGeom prst="rect">
            <a:avLst/>
          </a:prstGeom>
          <a:noFill/>
        </p:spPr>
        <p:txBody>
          <a:bodyPr wrap="square" lIns="0" rIns="0" tIns="0" bIns="0" anchor="t">
            <a:spAutoFit/>
          </a:bodyPr>
          <a:lstStyle/>
          <a:p>
            <a:pPr algn="l"/>
            <a:r>
              <a:rPr sz="1400" b="0" i="0">
                <a:solidFill>
                  <a:srgbClr val="666B60"/>
                </a:solidFill>
                <a:latin typeface="Menlo"/>
              </a:rPr>
              <a:t>03</a:t>
            </a:r>
          </a:p>
        </p:txBody>
      </p:sp>
      <p:sp>
        <p:nvSpPr>
          <p:cNvPr id="16" name="TextBox 15"/>
          <p:cNvSpPr txBox="1"/>
          <p:nvPr/>
        </p:nvSpPr>
        <p:spPr>
          <a:xfrm>
            <a:off x="8494776" y="3017520"/>
            <a:ext cx="2852928" cy="914400"/>
          </a:xfrm>
          <a:prstGeom prst="rect">
            <a:avLst/>
          </a:prstGeom>
          <a:noFill/>
        </p:spPr>
        <p:txBody>
          <a:bodyPr wrap="square" lIns="0" rIns="0" tIns="0" bIns="0" anchor="t">
            <a:spAutoFit/>
          </a:bodyPr>
          <a:lstStyle/>
          <a:p>
            <a:pPr algn="l"/>
            <a:r>
              <a:rPr sz="2400" b="1" i="0">
                <a:solidFill>
                  <a:srgbClr val="22241F"/>
                </a:solidFill>
                <a:latin typeface="Helvetica Neue"/>
              </a:rPr>
              <a:t>Did it pay exactly once?</a:t>
            </a:r>
          </a:p>
        </p:txBody>
      </p:sp>
      <p:sp>
        <p:nvSpPr>
          <p:cNvPr id="17" name="TextBox 16"/>
          <p:cNvSpPr txBox="1"/>
          <p:nvPr/>
        </p:nvSpPr>
        <p:spPr>
          <a:xfrm>
            <a:off x="8494776" y="4023360"/>
            <a:ext cx="2852928" cy="1645920"/>
          </a:xfrm>
          <a:prstGeom prst="rect">
            <a:avLst/>
          </a:prstGeom>
          <a:noFill/>
        </p:spPr>
        <p:txBody>
          <a:bodyPr wrap="square" lIns="0" rIns="0" tIns="0" bIns="0" anchor="t">
            <a:spAutoFit/>
          </a:bodyPr>
          <a:lstStyle/>
          <a:p>
            <a:pPr algn="l"/>
            <a:r>
              <a:rPr sz="1500" b="0" i="0">
                <a:solidFill>
                  <a:srgbClr val="666B60"/>
                </a:solidFill>
                <a:latin typeface="Helvetica Neue"/>
              </a:rPr>
              <a:t>A timeout isn't proof money did or didn't move. Retries and fallbacks must never pay twice.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3"/>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lIns="0" rIns="0" tIns="0" bIns="0" anchor="t">
            <a:spAutoFit/>
          </a:bodyPr>
          <a:lstStyle/>
          <a:p>
            <a:pPr algn="l"/>
            <a:r>
              <a:rPr sz="1100" b="0" i="0">
                <a:solidFill>
                  <a:srgbClr val="666B60"/>
                </a:solidFill>
                <a:latin typeface="Menlo"/>
              </a:rPr>
              <a:t>HOW IT WORKS</a:t>
            </a:r>
          </a:p>
        </p:txBody>
      </p:sp>
      <p:sp>
        <p:nvSpPr>
          <p:cNvPr id="3" name="TextBox 2"/>
          <p:cNvSpPr txBox="1"/>
          <p:nvPr/>
        </p:nvSpPr>
        <p:spPr>
          <a:xfrm>
            <a:off x="9722815" y="6355080"/>
            <a:ext cx="1828800" cy="274320"/>
          </a:xfrm>
          <a:prstGeom prst="rect">
            <a:avLst/>
          </a:prstGeom>
          <a:noFill/>
        </p:spPr>
        <p:txBody>
          <a:bodyPr wrap="square" lIns="0" rIns="0" tIns="0" bIns="0" anchor="t">
            <a:spAutoFit/>
          </a:bodyPr>
          <a:lstStyle/>
          <a:p>
            <a:pPr algn="r"/>
            <a:r>
              <a:rPr sz="1000" b="0" i="0">
                <a:solidFill>
                  <a:srgbClr val="666B60"/>
                </a:solidFill>
                <a:latin typeface="Menlo"/>
              </a:rPr>
              <a:t>ALGEBRA  ·  03</a:t>
            </a:r>
          </a:p>
        </p:txBody>
      </p:sp>
      <p:cxnSp>
        <p:nvCxnSpPr>
          <p:cNvPr id="4" name="Connector 3"/>
          <p:cNvCxnSpPr/>
          <p:nvPr/>
        </p:nvCxnSpPr>
        <p:spPr>
          <a:xfrm>
            <a:off x="640080" y="6217920"/>
            <a:ext cx="10911535" cy="0"/>
          </a:xfrm>
          <a:prstGeom prst="line">
            <a:avLst/>
          </a:prstGeom>
          <a:ln w="9525">
            <a:solidFill>
              <a:srgbClr val="DEDFD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400" b="1" i="0">
                <a:solidFill>
                  <a:srgbClr val="22241F"/>
                </a:solidFill>
                <a:latin typeface="Helvetica Neue"/>
              </a:rPr>
              <a:t>Ask for work and a ceiling. </a:t>
            </a:r>
            <a:r>
              <a:rPr sz="3400" b="0" i="1">
                <a:solidFill>
                  <a:srgbClr val="22241F"/>
                </a:solidFill>
                <a:latin typeface="Georgia"/>
              </a:rPr>
              <a:t>We do the rest.</a:t>
            </a:r>
          </a:p>
        </p:txBody>
      </p:sp>
      <p:sp>
        <p:nvSpPr>
          <p:cNvPr id="6" name="Rounded Rectangle 5"/>
          <p:cNvSpPr/>
          <p:nvPr/>
        </p:nvSpPr>
        <p:spPr>
          <a:xfrm>
            <a:off x="640080" y="2103120"/>
            <a:ext cx="1993392" cy="160020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2331720"/>
            <a:ext cx="1591056" cy="365760"/>
          </a:xfrm>
          <a:prstGeom prst="rect">
            <a:avLst/>
          </a:prstGeom>
          <a:noFill/>
        </p:spPr>
        <p:txBody>
          <a:bodyPr wrap="square" lIns="0" rIns="0" tIns="0" bIns="0" anchor="t">
            <a:spAutoFit/>
          </a:bodyPr>
          <a:lstStyle/>
          <a:p>
            <a:pPr algn="l"/>
            <a:r>
              <a:rPr sz="1900" b="1" i="0">
                <a:solidFill>
                  <a:srgbClr val="22241F"/>
                </a:solidFill>
                <a:latin typeface="Helvetica Neue"/>
              </a:rPr>
              <a:t>Agent</a:t>
            </a:r>
          </a:p>
        </p:txBody>
      </p:sp>
      <p:sp>
        <p:nvSpPr>
          <p:cNvPr id="8" name="TextBox 7"/>
          <p:cNvSpPr txBox="1"/>
          <p:nvPr/>
        </p:nvSpPr>
        <p:spPr>
          <a:xfrm>
            <a:off x="841247" y="2834639"/>
            <a:ext cx="1591056" cy="822960"/>
          </a:xfrm>
          <a:prstGeom prst="rect">
            <a:avLst/>
          </a:prstGeom>
          <a:noFill/>
        </p:spPr>
        <p:txBody>
          <a:bodyPr wrap="square" lIns="0" rIns="0" tIns="0" bIns="0" anchor="t">
            <a:spAutoFit/>
          </a:bodyPr>
          <a:lstStyle/>
          <a:p>
            <a:pPr algn="l"/>
            <a:r>
              <a:rPr sz="1200" b="0" i="0">
                <a:solidFill>
                  <a:srgbClr val="666B60"/>
                </a:solidFill>
                <a:latin typeface="Helvetica Neue"/>
              </a:rPr>
              <a:t>asks for token.price, at most $0.01</a:t>
            </a:r>
          </a:p>
        </p:txBody>
      </p:sp>
      <p:cxnSp>
        <p:nvCxnSpPr>
          <p:cNvPr id="9" name="Connector 8"/>
          <p:cNvCxnSpPr/>
          <p:nvPr/>
        </p:nvCxnSpPr>
        <p:spPr>
          <a:xfrm>
            <a:off x="2679191" y="2903220"/>
            <a:ext cx="246889" cy="0"/>
          </a:xfrm>
          <a:prstGeom prst="line">
            <a:avLst/>
          </a:prstGeom>
          <a:ln w="22225">
            <a:solidFill>
              <a:srgbClr val="666B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71800" y="2103120"/>
            <a:ext cx="1993392" cy="160020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172968" y="2331720"/>
            <a:ext cx="1591056" cy="365760"/>
          </a:xfrm>
          <a:prstGeom prst="rect">
            <a:avLst/>
          </a:prstGeom>
          <a:noFill/>
        </p:spPr>
        <p:txBody>
          <a:bodyPr wrap="square" lIns="0" rIns="0" tIns="0" bIns="0" anchor="t">
            <a:spAutoFit/>
          </a:bodyPr>
          <a:lstStyle/>
          <a:p>
            <a:pPr algn="l"/>
            <a:r>
              <a:rPr sz="1900" b="1" i="0">
                <a:solidFill>
                  <a:srgbClr val="22241F"/>
                </a:solidFill>
                <a:latin typeface="Helvetica Neue"/>
              </a:rPr>
              <a:t>Spend Pass</a:t>
            </a:r>
          </a:p>
        </p:txBody>
      </p:sp>
      <p:sp>
        <p:nvSpPr>
          <p:cNvPr id="12" name="TextBox 11"/>
          <p:cNvSpPr txBox="1"/>
          <p:nvPr/>
        </p:nvSpPr>
        <p:spPr>
          <a:xfrm>
            <a:off x="3172968" y="2834639"/>
            <a:ext cx="1591056" cy="822960"/>
          </a:xfrm>
          <a:prstGeom prst="rect">
            <a:avLst/>
          </a:prstGeom>
          <a:noFill/>
        </p:spPr>
        <p:txBody>
          <a:bodyPr wrap="square" lIns="0" rIns="0" tIns="0" bIns="0" anchor="t">
            <a:spAutoFit/>
          </a:bodyPr>
          <a:lstStyle/>
          <a:p>
            <a:pPr algn="l"/>
            <a:r>
              <a:rPr sz="1200" b="0" i="0">
                <a:solidFill>
                  <a:srgbClr val="666B60"/>
                </a:solidFill>
                <a:latin typeface="Helvetica Neue"/>
              </a:rPr>
              <a:t>budget, per-call cap, allow-list, kill switch</a:t>
            </a:r>
          </a:p>
        </p:txBody>
      </p:sp>
      <p:cxnSp>
        <p:nvCxnSpPr>
          <p:cNvPr id="13" name="Connector 12"/>
          <p:cNvCxnSpPr/>
          <p:nvPr/>
        </p:nvCxnSpPr>
        <p:spPr>
          <a:xfrm>
            <a:off x="5010912" y="2903220"/>
            <a:ext cx="246888" cy="0"/>
          </a:xfrm>
          <a:prstGeom prst="line">
            <a:avLst/>
          </a:prstGeom>
          <a:ln w="22225">
            <a:solidFill>
              <a:srgbClr val="666B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03520" y="2103120"/>
            <a:ext cx="1993392" cy="160020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504688" y="2331720"/>
            <a:ext cx="1591056" cy="365760"/>
          </a:xfrm>
          <a:prstGeom prst="rect">
            <a:avLst/>
          </a:prstGeom>
          <a:noFill/>
        </p:spPr>
        <p:txBody>
          <a:bodyPr wrap="square" lIns="0" rIns="0" tIns="0" bIns="0" anchor="t">
            <a:spAutoFit/>
          </a:bodyPr>
          <a:lstStyle/>
          <a:p>
            <a:pPr algn="l"/>
            <a:r>
              <a:rPr sz="1900" b="1" i="0">
                <a:solidFill>
                  <a:srgbClr val="22241F"/>
                </a:solidFill>
                <a:latin typeface="Helvetica Neue"/>
              </a:rPr>
              <a:t>Router</a:t>
            </a:r>
          </a:p>
        </p:txBody>
      </p:sp>
      <p:sp>
        <p:nvSpPr>
          <p:cNvPr id="16" name="TextBox 15"/>
          <p:cNvSpPr txBox="1"/>
          <p:nvPr/>
        </p:nvSpPr>
        <p:spPr>
          <a:xfrm>
            <a:off x="5504688" y="2834639"/>
            <a:ext cx="1591056" cy="822960"/>
          </a:xfrm>
          <a:prstGeom prst="rect">
            <a:avLst/>
          </a:prstGeom>
          <a:noFill/>
        </p:spPr>
        <p:txBody>
          <a:bodyPr wrap="square" lIns="0" rIns="0" tIns="0" bIns="0" anchor="t">
            <a:spAutoFit/>
          </a:bodyPr>
          <a:lstStyle/>
          <a:p>
            <a:pPr algn="l"/>
            <a:r>
              <a:rPr sz="1200" b="0" i="0">
                <a:solidFill>
                  <a:srgbClr val="666B60"/>
                </a:solidFill>
                <a:latin typeface="Helvetica Neue"/>
              </a:rPr>
              <a:t>quotes every provider live; drops down, overpriced and traps</a:t>
            </a:r>
          </a:p>
        </p:txBody>
      </p:sp>
      <p:cxnSp>
        <p:nvCxnSpPr>
          <p:cNvPr id="17" name="Connector 16"/>
          <p:cNvCxnSpPr/>
          <p:nvPr/>
        </p:nvCxnSpPr>
        <p:spPr>
          <a:xfrm>
            <a:off x="7342632" y="2903220"/>
            <a:ext cx="246887" cy="0"/>
          </a:xfrm>
          <a:prstGeom prst="line">
            <a:avLst/>
          </a:prstGeom>
          <a:ln w="22225">
            <a:solidFill>
              <a:srgbClr val="666B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635240" y="2103120"/>
            <a:ext cx="1993392" cy="160020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36408" y="2331720"/>
            <a:ext cx="1591056" cy="365760"/>
          </a:xfrm>
          <a:prstGeom prst="rect">
            <a:avLst/>
          </a:prstGeom>
          <a:noFill/>
        </p:spPr>
        <p:txBody>
          <a:bodyPr wrap="square" lIns="0" rIns="0" tIns="0" bIns="0" anchor="t">
            <a:spAutoFit/>
          </a:bodyPr>
          <a:lstStyle/>
          <a:p>
            <a:pPr algn="l"/>
            <a:r>
              <a:rPr sz="1900" b="1" i="0">
                <a:solidFill>
                  <a:srgbClr val="22241F"/>
                </a:solidFill>
                <a:latin typeface="Helvetica Neue"/>
              </a:rPr>
              <a:t>Pay once</a:t>
            </a:r>
          </a:p>
        </p:txBody>
      </p:sp>
      <p:sp>
        <p:nvSpPr>
          <p:cNvPr id="20" name="TextBox 19"/>
          <p:cNvSpPr txBox="1"/>
          <p:nvPr/>
        </p:nvSpPr>
        <p:spPr>
          <a:xfrm>
            <a:off x="7836408" y="2834639"/>
            <a:ext cx="1591056" cy="822960"/>
          </a:xfrm>
          <a:prstGeom prst="rect">
            <a:avLst/>
          </a:prstGeom>
          <a:noFill/>
        </p:spPr>
        <p:txBody>
          <a:bodyPr wrap="square" lIns="0" rIns="0" tIns="0" bIns="0" anchor="t">
            <a:spAutoFit/>
          </a:bodyPr>
          <a:lstStyle/>
          <a:p>
            <a:pPr algn="l"/>
            <a:r>
              <a:rPr sz="1200" b="0" i="0">
                <a:solidFill>
                  <a:srgbClr val="666B60"/>
                </a:solidFill>
                <a:latin typeface="Helvetica Neue"/>
              </a:rPr>
              <a:t>USDC on Solana, from a wallet the agent never sees</a:t>
            </a:r>
          </a:p>
        </p:txBody>
      </p:sp>
      <p:cxnSp>
        <p:nvCxnSpPr>
          <p:cNvPr id="21" name="Connector 20"/>
          <p:cNvCxnSpPr/>
          <p:nvPr/>
        </p:nvCxnSpPr>
        <p:spPr>
          <a:xfrm>
            <a:off x="9674352" y="2903220"/>
            <a:ext cx="246887" cy="0"/>
          </a:xfrm>
          <a:prstGeom prst="line">
            <a:avLst/>
          </a:prstGeom>
          <a:ln w="22225">
            <a:solidFill>
              <a:srgbClr val="666B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966960" y="2103120"/>
            <a:ext cx="1993392" cy="1600200"/>
          </a:xfrm>
          <a:prstGeom prst="roundRect">
            <a:avLst>
              <a:gd name="adj" fmla="val 6000"/>
            </a:avLst>
          </a:prstGeom>
          <a:solidFill>
            <a:srgbClr val="BAD5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68128" y="2331720"/>
            <a:ext cx="1591056" cy="365760"/>
          </a:xfrm>
          <a:prstGeom prst="rect">
            <a:avLst/>
          </a:prstGeom>
          <a:noFill/>
        </p:spPr>
        <p:txBody>
          <a:bodyPr wrap="square" lIns="0" rIns="0" tIns="0" bIns="0" anchor="t">
            <a:spAutoFit/>
          </a:bodyPr>
          <a:lstStyle/>
          <a:p>
            <a:pPr algn="l"/>
            <a:r>
              <a:rPr sz="1900" b="1" i="0">
                <a:solidFill>
                  <a:srgbClr val="2D3927"/>
                </a:solidFill>
                <a:latin typeface="Helvetica Neue"/>
              </a:rPr>
              <a:t>Receipt</a:t>
            </a:r>
          </a:p>
        </p:txBody>
      </p:sp>
      <p:sp>
        <p:nvSpPr>
          <p:cNvPr id="24" name="TextBox 23"/>
          <p:cNvSpPr txBox="1"/>
          <p:nvPr/>
        </p:nvSpPr>
        <p:spPr>
          <a:xfrm>
            <a:off x="10168128" y="2834639"/>
            <a:ext cx="1591056" cy="822960"/>
          </a:xfrm>
          <a:prstGeom prst="rect">
            <a:avLst/>
          </a:prstGeom>
          <a:noFill/>
        </p:spPr>
        <p:txBody>
          <a:bodyPr wrap="square" lIns="0" rIns="0" tIns="0" bIns="0" anchor="t">
            <a:spAutoFit/>
          </a:bodyPr>
          <a:lstStyle/>
          <a:p>
            <a:pPr algn="l"/>
            <a:r>
              <a:rPr sz="1200" b="0" i="0">
                <a:solidFill>
                  <a:srgbClr val="2D3927"/>
                </a:solidFill>
                <a:latin typeface="Helvetica Neue"/>
              </a:rPr>
              <a:t>the answer and an Ed25519 receipt anyone can verify</a:t>
            </a:r>
          </a:p>
        </p:txBody>
      </p:sp>
      <p:sp>
        <p:nvSpPr>
          <p:cNvPr id="25" name="Rounded Rectangle 24"/>
          <p:cNvSpPr/>
          <p:nvPr/>
        </p:nvSpPr>
        <p:spPr>
          <a:xfrm>
            <a:off x="640080" y="4069080"/>
            <a:ext cx="10911535" cy="1783080"/>
          </a:xfrm>
          <a:prstGeom prst="roundRect">
            <a:avLst>
              <a:gd name="adj" fmla="val 4000"/>
            </a:avLst>
          </a:prstGeom>
          <a:solidFill>
            <a:srgbClr val="22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0120" y="4297680"/>
            <a:ext cx="10271455" cy="1463040"/>
          </a:xfrm>
          <a:prstGeom prst="rect">
            <a:avLst/>
          </a:prstGeom>
          <a:noFill/>
        </p:spPr>
        <p:txBody>
          <a:bodyPr wrap="square" lIns="0" rIns="0" tIns="0" bIns="0" anchor="t">
            <a:spAutoFit/>
          </a:bodyPr>
          <a:lstStyle/>
          <a:p>
            <a:pPr algn="l">
              <a:spcAft>
                <a:spcPts val="1000"/>
              </a:spcAft>
            </a:pPr>
            <a:r>
              <a:rPr sz="1250" b="1" i="0">
                <a:solidFill>
                  <a:srgbClr val="BAD59C"/>
                </a:solidFill>
                <a:latin typeface="Menlo"/>
              </a:rPr>
              <a:t>POST /api/v1/execute</a:t>
            </a:r>
            <a:r>
              <a:rPr sz="1250" b="0" i="0">
                <a:solidFill>
                  <a:srgbClr val="666B60"/>
                </a:solidFill>
                <a:latin typeface="Menlo"/>
              </a:rPr>
              <a:t>     # REST, or the algebra.execute MCP tool</a:t>
            </a:r>
          </a:p>
          <a:p>
            <a:pPr algn="l">
              <a:spcAft>
                <a:spcPts val="1000"/>
              </a:spcAft>
            </a:pPr>
            <a:r>
              <a:rPr sz="1250" b="0" i="0">
                <a:solidFill>
                  <a:srgbClr val="FFFFFF"/>
                </a:solidFill>
                <a:latin typeface="Menlo"/>
              </a:rPr>
              <a:t>{"capability":"token.price", "budget_max_minor":10000, "provider_policy":{"strategy":"cheapest"}}</a:t>
            </a:r>
          </a:p>
          <a:p>
            <a:pPr algn="l">
              <a:spcAft>
                <a:spcPts val="1000"/>
              </a:spcAft>
            </a:pPr>
            <a:r>
              <a:rPr sz="1250" b="0" i="0">
                <a:solidFill>
                  <a:srgbClr val="666B60"/>
                </a:solidFill>
                <a:latin typeface="Menlo"/>
              </a:rPr>
              <a:t>→ </a:t>
            </a:r>
            <a:r>
              <a:rPr sz="1250" b="0" i="0">
                <a:solidFill>
                  <a:srgbClr val="DBAD89"/>
                </a:solidFill>
                <a:latin typeface="Menlo"/>
              </a:rPr>
              <a:t>delivered · paid demo:beta $0.001 · refused flaky, greedy, trap · receipt eyJhbGci…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3"/>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lIns="0" rIns="0" tIns="0" bIns="0" anchor="t">
            <a:spAutoFit/>
          </a:bodyPr>
          <a:lstStyle/>
          <a:p>
            <a:pPr algn="l"/>
            <a:r>
              <a:rPr sz="1100" b="0" i="0">
                <a:solidFill>
                  <a:srgbClr val="666B60"/>
                </a:solidFill>
                <a:latin typeface="Menlo"/>
              </a:rPr>
              <a:t>WHY SOLANA</a:t>
            </a:r>
          </a:p>
        </p:txBody>
      </p:sp>
      <p:sp>
        <p:nvSpPr>
          <p:cNvPr id="3" name="TextBox 2"/>
          <p:cNvSpPr txBox="1"/>
          <p:nvPr/>
        </p:nvSpPr>
        <p:spPr>
          <a:xfrm>
            <a:off x="9722815" y="6355080"/>
            <a:ext cx="1828800" cy="274320"/>
          </a:xfrm>
          <a:prstGeom prst="rect">
            <a:avLst/>
          </a:prstGeom>
          <a:noFill/>
        </p:spPr>
        <p:txBody>
          <a:bodyPr wrap="square" lIns="0" rIns="0" tIns="0" bIns="0" anchor="t">
            <a:spAutoFit/>
          </a:bodyPr>
          <a:lstStyle/>
          <a:p>
            <a:pPr algn="r"/>
            <a:r>
              <a:rPr sz="1000" b="0" i="0">
                <a:solidFill>
                  <a:srgbClr val="666B60"/>
                </a:solidFill>
                <a:latin typeface="Menlo"/>
              </a:rPr>
              <a:t>ALGEBRA  ·  04</a:t>
            </a:r>
          </a:p>
        </p:txBody>
      </p:sp>
      <p:cxnSp>
        <p:nvCxnSpPr>
          <p:cNvPr id="4" name="Connector 3"/>
          <p:cNvCxnSpPr/>
          <p:nvPr/>
        </p:nvCxnSpPr>
        <p:spPr>
          <a:xfrm>
            <a:off x="640080" y="6217920"/>
            <a:ext cx="10911535" cy="0"/>
          </a:xfrm>
          <a:prstGeom prst="line">
            <a:avLst/>
          </a:prstGeom>
          <a:ln w="9525">
            <a:solidFill>
              <a:srgbClr val="DEDFD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914400"/>
            <a:ext cx="6766560" cy="1463040"/>
          </a:xfrm>
          <a:prstGeom prst="rect">
            <a:avLst/>
          </a:prstGeom>
          <a:noFill/>
        </p:spPr>
        <p:txBody>
          <a:bodyPr wrap="square" lIns="0" rIns="0" tIns="0" bIns="0" anchor="t">
            <a:spAutoFit/>
          </a:bodyPr>
          <a:lstStyle/>
          <a:p>
            <a:pPr algn="l"/>
            <a:r>
              <a:rPr sz="3400" b="1" i="0">
                <a:solidFill>
                  <a:srgbClr val="22241F"/>
                </a:solidFill>
                <a:latin typeface="Helvetica Neue"/>
              </a:rPr>
              <a:t>Limits enforced </a:t>
            </a:r>
            <a:r>
              <a:rPr sz="3400" b="0" i="1">
                <a:solidFill>
                  <a:srgbClr val="22241F"/>
                </a:solidFill>
                <a:latin typeface="Georgia"/>
              </a:rPr>
              <a:t>on chain,</a:t>
            </a:r>
          </a:p>
          <a:p>
            <a:pPr algn="l"/>
            <a:r>
              <a:rPr sz="3400" b="1" i="0">
                <a:solidFill>
                  <a:srgbClr val="22241F"/>
                </a:solidFill>
                <a:latin typeface="Helvetica Neue"/>
              </a:rPr>
              <a:t>not just on our server</a:t>
            </a:r>
          </a:p>
        </p:txBody>
      </p:sp>
      <p:sp>
        <p:nvSpPr>
          <p:cNvPr id="6" name="Oval 5"/>
          <p:cNvSpPr/>
          <p:nvPr/>
        </p:nvSpPr>
        <p:spPr>
          <a:xfrm>
            <a:off x="685800" y="2697480"/>
            <a:ext cx="118872" cy="118872"/>
          </a:xfrm>
          <a:prstGeom prst="ellipse">
            <a:avLst/>
          </a:prstGeom>
          <a:solidFill>
            <a:srgbClr val="2D39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06040"/>
            <a:ext cx="6035040" cy="731520"/>
          </a:xfrm>
          <a:prstGeom prst="rect">
            <a:avLst/>
          </a:prstGeom>
          <a:noFill/>
        </p:spPr>
        <p:txBody>
          <a:bodyPr wrap="square" lIns="0" rIns="0" tIns="0" bIns="0" anchor="t">
            <a:spAutoFit/>
          </a:bodyPr>
          <a:lstStyle/>
          <a:p>
            <a:pPr algn="l"/>
            <a:r>
              <a:rPr sz="1700" b="1" i="0">
                <a:solidFill>
                  <a:srgbClr val="22241F"/>
                </a:solidFill>
                <a:latin typeface="Helvetica Neue"/>
              </a:rPr>
              <a:t>Your wallet funds a vault</a:t>
            </a:r>
            <a:r>
              <a:rPr sz="1700" b="0" i="0">
                <a:solidFill>
                  <a:srgbClr val="666B60"/>
                </a:solidFill>
                <a:latin typeface="Helvetica Neue"/>
              </a:rPr>
              <a:t> that only our Anchor program can move money out of.</a:t>
            </a:r>
          </a:p>
        </p:txBody>
      </p:sp>
      <p:sp>
        <p:nvSpPr>
          <p:cNvPr id="8" name="Oval 7"/>
          <p:cNvSpPr/>
          <p:nvPr/>
        </p:nvSpPr>
        <p:spPr>
          <a:xfrm>
            <a:off x="685800" y="3447288"/>
            <a:ext cx="118872" cy="118872"/>
          </a:xfrm>
          <a:prstGeom prst="ellipse">
            <a:avLst/>
          </a:prstGeom>
          <a:solidFill>
            <a:srgbClr val="2D39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6035040" cy="731520"/>
          </a:xfrm>
          <a:prstGeom prst="rect">
            <a:avLst/>
          </a:prstGeom>
          <a:noFill/>
        </p:spPr>
        <p:txBody>
          <a:bodyPr wrap="square" lIns="0" rIns="0" tIns="0" bIns="0" anchor="t">
            <a:spAutoFit/>
          </a:bodyPr>
          <a:lstStyle/>
          <a:p>
            <a:pPr algn="l"/>
            <a:r>
              <a:rPr sz="1700" b="1" i="0">
                <a:solidFill>
                  <a:srgbClr val="22241F"/>
                </a:solidFill>
                <a:latin typeface="Helvetica Neue"/>
              </a:rPr>
              <a:t>One payment at a time:</a:t>
            </a:r>
            <a:r>
              <a:rPr sz="1700" b="0" i="0">
                <a:solidFill>
                  <a:srgbClr val="666B60"/>
                </a:solidFill>
                <a:latin typeface="Helvetica Neue"/>
              </a:rPr>
              <a:t> each pull is checked against the per-call cap, budget, window and expiry.</a:t>
            </a:r>
          </a:p>
        </p:txBody>
      </p:sp>
      <p:sp>
        <p:nvSpPr>
          <p:cNvPr id="10" name="Oval 9"/>
          <p:cNvSpPr/>
          <p:nvPr/>
        </p:nvSpPr>
        <p:spPr>
          <a:xfrm>
            <a:off x="685800" y="4197096"/>
            <a:ext cx="118872" cy="118872"/>
          </a:xfrm>
          <a:prstGeom prst="ellipse">
            <a:avLst/>
          </a:prstGeom>
          <a:solidFill>
            <a:srgbClr val="2D39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05656"/>
            <a:ext cx="6035040" cy="731520"/>
          </a:xfrm>
          <a:prstGeom prst="rect">
            <a:avLst/>
          </a:prstGeom>
          <a:noFill/>
        </p:spPr>
        <p:txBody>
          <a:bodyPr wrap="square" lIns="0" rIns="0" tIns="0" bIns="0" anchor="t">
            <a:spAutoFit/>
          </a:bodyPr>
          <a:lstStyle/>
          <a:p>
            <a:pPr algn="l"/>
            <a:r>
              <a:rPr sz="1700" b="1" i="0">
                <a:solidFill>
                  <a:srgbClr val="22241F"/>
                </a:solidFill>
                <a:latin typeface="Helvetica Neue"/>
              </a:rPr>
              <a:t>Freeze it from your wallet.</a:t>
            </a:r>
            <a:r>
              <a:rPr sz="1700" b="0" i="0">
                <a:solidFill>
                  <a:srgbClr val="666B60"/>
                </a:solidFill>
                <a:latin typeface="Helvetica Neue"/>
              </a:rPr>
              <a:t> The server can't undo that.</a:t>
            </a:r>
          </a:p>
        </p:txBody>
      </p:sp>
      <p:sp>
        <p:nvSpPr>
          <p:cNvPr id="12" name="Oval 11"/>
          <p:cNvSpPr/>
          <p:nvPr/>
        </p:nvSpPr>
        <p:spPr>
          <a:xfrm>
            <a:off x="685800" y="4946904"/>
            <a:ext cx="118872" cy="118872"/>
          </a:xfrm>
          <a:prstGeom prst="ellipse">
            <a:avLst/>
          </a:prstGeom>
          <a:solidFill>
            <a:srgbClr val="2D39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855464"/>
            <a:ext cx="6035040" cy="731520"/>
          </a:xfrm>
          <a:prstGeom prst="rect">
            <a:avLst/>
          </a:prstGeom>
          <a:noFill/>
        </p:spPr>
        <p:txBody>
          <a:bodyPr wrap="square" lIns="0" rIns="0" tIns="0" bIns="0" anchor="t">
            <a:spAutoFit/>
          </a:bodyPr>
          <a:lstStyle/>
          <a:p>
            <a:pPr algn="l"/>
            <a:r>
              <a:rPr sz="1700" b="1" i="0">
                <a:solidFill>
                  <a:srgbClr val="22241F"/>
                </a:solidFill>
                <a:latin typeface="Helvetica Neue"/>
              </a:rPr>
              <a:t>Unspent money goes back</a:t>
            </a:r>
            <a:r>
              <a:rPr sz="1700" b="0" i="0">
                <a:solidFill>
                  <a:srgbClr val="666B60"/>
                </a:solidFill>
                <a:latin typeface="Helvetica Neue"/>
              </a:rPr>
              <a:t> to the vault, settled from chain proof.</a:t>
            </a:r>
          </a:p>
        </p:txBody>
      </p:sp>
      <p:sp>
        <p:nvSpPr>
          <p:cNvPr id="14" name="Rounded Rectangle 13"/>
          <p:cNvSpPr/>
          <p:nvPr/>
        </p:nvSpPr>
        <p:spPr>
          <a:xfrm>
            <a:off x="7726679" y="1005840"/>
            <a:ext cx="3840480" cy="4206240"/>
          </a:xfrm>
          <a:prstGeom prst="roundRect">
            <a:avLst>
              <a:gd name="adj" fmla="val 5000"/>
            </a:avLst>
          </a:prstGeom>
          <a:solidFill>
            <a:srgbClr val="222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46719" y="1280160"/>
            <a:ext cx="3200400" cy="274320"/>
          </a:xfrm>
          <a:prstGeom prst="rect">
            <a:avLst/>
          </a:prstGeom>
          <a:noFill/>
        </p:spPr>
        <p:txBody>
          <a:bodyPr wrap="square" lIns="0" rIns="0" tIns="0" bIns="0" anchor="t">
            <a:spAutoFit/>
          </a:bodyPr>
          <a:lstStyle/>
          <a:p>
            <a:pPr algn="l"/>
            <a:r>
              <a:rPr sz="1100" b="0" i="0">
                <a:solidFill>
                  <a:srgbClr val="666B60"/>
                </a:solidFill>
                <a:latin typeface="Menlo"/>
              </a:rPr>
              <a:t>SPEND PASS  ·  PDA</a:t>
            </a:r>
          </a:p>
        </p:txBody>
      </p:sp>
      <p:sp>
        <p:nvSpPr>
          <p:cNvPr id="16" name="TextBox 15"/>
          <p:cNvSpPr txBox="1"/>
          <p:nvPr/>
        </p:nvSpPr>
        <p:spPr>
          <a:xfrm>
            <a:off x="8046719" y="1600200"/>
            <a:ext cx="3200400" cy="457200"/>
          </a:xfrm>
          <a:prstGeom prst="rect">
            <a:avLst/>
          </a:prstGeom>
          <a:noFill/>
        </p:spPr>
        <p:txBody>
          <a:bodyPr wrap="square" lIns="0" rIns="0" tIns="0" bIns="0" anchor="t">
            <a:spAutoFit/>
          </a:bodyPr>
          <a:lstStyle/>
          <a:p>
            <a:pPr algn="l"/>
            <a:r>
              <a:rPr sz="2200" b="1" i="0">
                <a:solidFill>
                  <a:srgbClr val="FFFFFF"/>
                </a:solidFill>
                <a:latin typeface="Helvetica Neue"/>
              </a:rPr>
              <a:t>research-agent</a:t>
            </a:r>
          </a:p>
        </p:txBody>
      </p:sp>
      <p:sp>
        <p:nvSpPr>
          <p:cNvPr id="17" name="TextBox 16"/>
          <p:cNvSpPr txBox="1"/>
          <p:nvPr/>
        </p:nvSpPr>
        <p:spPr>
          <a:xfrm>
            <a:off x="8046719" y="2331720"/>
            <a:ext cx="1645920" cy="320040"/>
          </a:xfrm>
          <a:prstGeom prst="rect">
            <a:avLst/>
          </a:prstGeom>
          <a:noFill/>
        </p:spPr>
        <p:txBody>
          <a:bodyPr wrap="square" lIns="0" rIns="0" tIns="0" bIns="0" anchor="t">
            <a:spAutoFit/>
          </a:bodyPr>
          <a:lstStyle/>
          <a:p>
            <a:pPr algn="l"/>
            <a:r>
              <a:rPr sz="1300" b="0" i="0">
                <a:solidFill>
                  <a:srgbClr val="666B60"/>
                </a:solidFill>
                <a:latin typeface="Menlo"/>
              </a:rPr>
              <a:t>per-call cap</a:t>
            </a:r>
          </a:p>
        </p:txBody>
      </p:sp>
      <p:sp>
        <p:nvSpPr>
          <p:cNvPr id="18" name="TextBox 17"/>
          <p:cNvSpPr txBox="1"/>
          <p:nvPr/>
        </p:nvSpPr>
        <p:spPr>
          <a:xfrm>
            <a:off x="9555480" y="2331720"/>
            <a:ext cx="1691640" cy="320040"/>
          </a:xfrm>
          <a:prstGeom prst="rect">
            <a:avLst/>
          </a:prstGeom>
          <a:noFill/>
        </p:spPr>
        <p:txBody>
          <a:bodyPr wrap="square" lIns="0" rIns="0" tIns="0" bIns="0" anchor="t">
            <a:spAutoFit/>
          </a:bodyPr>
          <a:lstStyle/>
          <a:p>
            <a:pPr algn="r"/>
            <a:r>
              <a:rPr sz="1300" b="0" i="0">
                <a:solidFill>
                  <a:srgbClr val="FFFFFF"/>
                </a:solidFill>
                <a:latin typeface="Menlo"/>
              </a:rPr>
              <a:t>$0.05</a:t>
            </a:r>
          </a:p>
        </p:txBody>
      </p:sp>
      <p:sp>
        <p:nvSpPr>
          <p:cNvPr id="19" name="TextBox 18"/>
          <p:cNvSpPr txBox="1"/>
          <p:nvPr/>
        </p:nvSpPr>
        <p:spPr>
          <a:xfrm>
            <a:off x="8046719" y="2743200"/>
            <a:ext cx="1645920" cy="320040"/>
          </a:xfrm>
          <a:prstGeom prst="rect">
            <a:avLst/>
          </a:prstGeom>
          <a:noFill/>
        </p:spPr>
        <p:txBody>
          <a:bodyPr wrap="square" lIns="0" rIns="0" tIns="0" bIns="0" anchor="t">
            <a:spAutoFit/>
          </a:bodyPr>
          <a:lstStyle/>
          <a:p>
            <a:pPr algn="l"/>
            <a:r>
              <a:rPr sz="1300" b="0" i="0">
                <a:solidFill>
                  <a:srgbClr val="666B60"/>
                </a:solidFill>
                <a:latin typeface="Menlo"/>
              </a:rPr>
              <a:t>budget</a:t>
            </a:r>
          </a:p>
        </p:txBody>
      </p:sp>
      <p:sp>
        <p:nvSpPr>
          <p:cNvPr id="20" name="TextBox 19"/>
          <p:cNvSpPr txBox="1"/>
          <p:nvPr/>
        </p:nvSpPr>
        <p:spPr>
          <a:xfrm>
            <a:off x="9555480" y="2743200"/>
            <a:ext cx="1691640" cy="320040"/>
          </a:xfrm>
          <a:prstGeom prst="rect">
            <a:avLst/>
          </a:prstGeom>
          <a:noFill/>
        </p:spPr>
        <p:txBody>
          <a:bodyPr wrap="square" lIns="0" rIns="0" tIns="0" bIns="0" anchor="t">
            <a:spAutoFit/>
          </a:bodyPr>
          <a:lstStyle/>
          <a:p>
            <a:pPr algn="r"/>
            <a:r>
              <a:rPr sz="1300" b="0" i="0">
                <a:solidFill>
                  <a:srgbClr val="FFFFFF"/>
                </a:solidFill>
                <a:latin typeface="Menlo"/>
              </a:rPr>
              <a:t>$1.00 / month</a:t>
            </a:r>
          </a:p>
        </p:txBody>
      </p:sp>
      <p:sp>
        <p:nvSpPr>
          <p:cNvPr id="21" name="TextBox 20"/>
          <p:cNvSpPr txBox="1"/>
          <p:nvPr/>
        </p:nvSpPr>
        <p:spPr>
          <a:xfrm>
            <a:off x="8046719" y="3154680"/>
            <a:ext cx="1645920" cy="320040"/>
          </a:xfrm>
          <a:prstGeom prst="rect">
            <a:avLst/>
          </a:prstGeom>
          <a:noFill/>
        </p:spPr>
        <p:txBody>
          <a:bodyPr wrap="square" lIns="0" rIns="0" tIns="0" bIns="0" anchor="t">
            <a:spAutoFit/>
          </a:bodyPr>
          <a:lstStyle/>
          <a:p>
            <a:pPr algn="l"/>
            <a:r>
              <a:rPr sz="1300" b="0" i="0">
                <a:solidFill>
                  <a:srgbClr val="666B60"/>
                </a:solidFill>
                <a:latin typeface="Menlo"/>
              </a:rPr>
              <a:t>spent</a:t>
            </a:r>
          </a:p>
        </p:txBody>
      </p:sp>
      <p:sp>
        <p:nvSpPr>
          <p:cNvPr id="22" name="TextBox 21"/>
          <p:cNvSpPr txBox="1"/>
          <p:nvPr/>
        </p:nvSpPr>
        <p:spPr>
          <a:xfrm>
            <a:off x="9555480" y="3154680"/>
            <a:ext cx="1691640" cy="320040"/>
          </a:xfrm>
          <a:prstGeom prst="rect">
            <a:avLst/>
          </a:prstGeom>
          <a:noFill/>
        </p:spPr>
        <p:txBody>
          <a:bodyPr wrap="square" lIns="0" rIns="0" tIns="0" bIns="0" anchor="t">
            <a:spAutoFit/>
          </a:bodyPr>
          <a:lstStyle/>
          <a:p>
            <a:pPr algn="r"/>
            <a:r>
              <a:rPr sz="1300" b="0" i="0">
                <a:solidFill>
                  <a:srgbClr val="FFFFFF"/>
                </a:solidFill>
                <a:latin typeface="Menlo"/>
              </a:rPr>
              <a:t>$0.003</a:t>
            </a:r>
          </a:p>
        </p:txBody>
      </p:sp>
      <p:sp>
        <p:nvSpPr>
          <p:cNvPr id="23" name="TextBox 22"/>
          <p:cNvSpPr txBox="1"/>
          <p:nvPr/>
        </p:nvSpPr>
        <p:spPr>
          <a:xfrm>
            <a:off x="8046719" y="3566160"/>
            <a:ext cx="1645920" cy="320040"/>
          </a:xfrm>
          <a:prstGeom prst="rect">
            <a:avLst/>
          </a:prstGeom>
          <a:noFill/>
        </p:spPr>
        <p:txBody>
          <a:bodyPr wrap="square" lIns="0" rIns="0" tIns="0" bIns="0" anchor="t">
            <a:spAutoFit/>
          </a:bodyPr>
          <a:lstStyle/>
          <a:p>
            <a:pPr algn="l"/>
            <a:r>
              <a:rPr sz="1300" b="0" i="0">
                <a:solidFill>
                  <a:srgbClr val="666B60"/>
                </a:solidFill>
                <a:latin typeface="Menlo"/>
              </a:rPr>
              <a:t>expires</a:t>
            </a:r>
          </a:p>
        </p:txBody>
      </p:sp>
      <p:sp>
        <p:nvSpPr>
          <p:cNvPr id="24" name="TextBox 23"/>
          <p:cNvSpPr txBox="1"/>
          <p:nvPr/>
        </p:nvSpPr>
        <p:spPr>
          <a:xfrm>
            <a:off x="9555480" y="3566160"/>
            <a:ext cx="1691640" cy="320040"/>
          </a:xfrm>
          <a:prstGeom prst="rect">
            <a:avLst/>
          </a:prstGeom>
          <a:noFill/>
        </p:spPr>
        <p:txBody>
          <a:bodyPr wrap="square" lIns="0" rIns="0" tIns="0" bIns="0" anchor="t">
            <a:spAutoFit/>
          </a:bodyPr>
          <a:lstStyle/>
          <a:p>
            <a:pPr algn="r"/>
            <a:r>
              <a:rPr sz="1300" b="0" i="0">
                <a:solidFill>
                  <a:srgbClr val="FFFFFF"/>
                </a:solidFill>
                <a:latin typeface="Menlo"/>
              </a:rPr>
              <a:t>in 30 days</a:t>
            </a:r>
          </a:p>
        </p:txBody>
      </p:sp>
      <p:sp>
        <p:nvSpPr>
          <p:cNvPr id="25" name="TextBox 24"/>
          <p:cNvSpPr txBox="1"/>
          <p:nvPr/>
        </p:nvSpPr>
        <p:spPr>
          <a:xfrm>
            <a:off x="8046719" y="3977640"/>
            <a:ext cx="1645920" cy="320040"/>
          </a:xfrm>
          <a:prstGeom prst="rect">
            <a:avLst/>
          </a:prstGeom>
          <a:noFill/>
        </p:spPr>
        <p:txBody>
          <a:bodyPr wrap="square" lIns="0" rIns="0" tIns="0" bIns="0" anchor="t">
            <a:spAutoFit/>
          </a:bodyPr>
          <a:lstStyle/>
          <a:p>
            <a:pPr algn="l"/>
            <a:r>
              <a:rPr sz="1300" b="0" i="0">
                <a:solidFill>
                  <a:srgbClr val="666B60"/>
                </a:solidFill>
                <a:latin typeface="Menlo"/>
              </a:rPr>
              <a:t>frozen</a:t>
            </a:r>
          </a:p>
        </p:txBody>
      </p:sp>
      <p:sp>
        <p:nvSpPr>
          <p:cNvPr id="26" name="TextBox 25"/>
          <p:cNvSpPr txBox="1"/>
          <p:nvPr/>
        </p:nvSpPr>
        <p:spPr>
          <a:xfrm>
            <a:off x="9555480" y="3977640"/>
            <a:ext cx="1691640" cy="320040"/>
          </a:xfrm>
          <a:prstGeom prst="rect">
            <a:avLst/>
          </a:prstGeom>
          <a:noFill/>
        </p:spPr>
        <p:txBody>
          <a:bodyPr wrap="square" lIns="0" rIns="0" tIns="0" bIns="0" anchor="t">
            <a:spAutoFit/>
          </a:bodyPr>
          <a:lstStyle/>
          <a:p>
            <a:pPr algn="r"/>
            <a:r>
              <a:rPr sz="1300" b="0" i="0">
                <a:solidFill>
                  <a:srgbClr val="FFFFFF"/>
                </a:solidFill>
                <a:latin typeface="Menlo"/>
              </a:rPr>
              <a:t>false</a:t>
            </a:r>
          </a:p>
        </p:txBody>
      </p:sp>
      <p:sp>
        <p:nvSpPr>
          <p:cNvPr id="27" name="Rounded Rectangle 26"/>
          <p:cNvSpPr/>
          <p:nvPr/>
        </p:nvSpPr>
        <p:spPr>
          <a:xfrm>
            <a:off x="8046719" y="4434840"/>
            <a:ext cx="3200400" cy="457200"/>
          </a:xfrm>
          <a:prstGeom prst="roundRect">
            <a:avLst>
              <a:gd name="adj" fmla="val 50000"/>
            </a:avLst>
          </a:prstGeom>
          <a:solidFill>
            <a:srgbClr val="BAD5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46719" y="4434840"/>
            <a:ext cx="3200400" cy="457200"/>
          </a:xfrm>
          <a:prstGeom prst="rect">
            <a:avLst/>
          </a:prstGeom>
          <a:noFill/>
        </p:spPr>
        <p:txBody>
          <a:bodyPr wrap="square" lIns="0" rIns="0" tIns="0" bIns="0" anchor="ctr">
            <a:spAutoFit/>
          </a:bodyPr>
          <a:lstStyle/>
          <a:p>
            <a:pPr algn="ctr"/>
            <a:r>
              <a:rPr sz="1200" b="0" i="0">
                <a:solidFill>
                  <a:srgbClr val="2D3927"/>
                </a:solidFill>
                <a:latin typeface="Menlo"/>
              </a:rPr>
              <a:t>program 46gQ…9tdS · devnet</a:t>
            </a:r>
          </a:p>
        </p:txBody>
      </p:sp>
      <p:sp>
        <p:nvSpPr>
          <p:cNvPr id="29" name="TextBox 28"/>
          <p:cNvSpPr txBox="1"/>
          <p:nvPr/>
        </p:nvSpPr>
        <p:spPr>
          <a:xfrm>
            <a:off x="640080" y="5623560"/>
            <a:ext cx="10972800" cy="457200"/>
          </a:xfrm>
          <a:prstGeom prst="rect">
            <a:avLst/>
          </a:prstGeom>
          <a:noFill/>
        </p:spPr>
        <p:txBody>
          <a:bodyPr wrap="square" lIns="0" rIns="0" tIns="0" bIns="0" anchor="t">
            <a:spAutoFit/>
          </a:bodyPr>
          <a:lstStyle/>
          <a:p>
            <a:pPr algn="l"/>
            <a:r>
              <a:rPr sz="2000" b="0" i="1">
                <a:solidFill>
                  <a:srgbClr val="22241F"/>
                </a:solidFill>
                <a:latin typeface="Georgia"/>
              </a:rPr>
              <a:t>Even a compromised Algebra server can't take more than the pass allows.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3"/>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lIns="0" rIns="0" tIns="0" bIns="0" anchor="t">
            <a:spAutoFit/>
          </a:bodyPr>
          <a:lstStyle/>
          <a:p>
            <a:pPr algn="l"/>
            <a:r>
              <a:rPr sz="1100" b="0" i="0">
                <a:solidFill>
                  <a:srgbClr val="666B60"/>
                </a:solidFill>
                <a:latin typeface="Menlo"/>
              </a:rPr>
              <a:t>WHERE IT STANDS</a:t>
            </a:r>
          </a:p>
        </p:txBody>
      </p:sp>
      <p:sp>
        <p:nvSpPr>
          <p:cNvPr id="3" name="TextBox 2"/>
          <p:cNvSpPr txBox="1"/>
          <p:nvPr/>
        </p:nvSpPr>
        <p:spPr>
          <a:xfrm>
            <a:off x="9722815" y="6355080"/>
            <a:ext cx="1828800" cy="274320"/>
          </a:xfrm>
          <a:prstGeom prst="rect">
            <a:avLst/>
          </a:prstGeom>
          <a:noFill/>
        </p:spPr>
        <p:txBody>
          <a:bodyPr wrap="square" lIns="0" rIns="0" tIns="0" bIns="0" anchor="t">
            <a:spAutoFit/>
          </a:bodyPr>
          <a:lstStyle/>
          <a:p>
            <a:pPr algn="r"/>
            <a:r>
              <a:rPr sz="1000" b="0" i="0">
                <a:solidFill>
                  <a:srgbClr val="666B60"/>
                </a:solidFill>
                <a:latin typeface="Menlo"/>
              </a:rPr>
              <a:t>ALGEBRA  ·  05</a:t>
            </a:r>
          </a:p>
        </p:txBody>
      </p:sp>
      <p:cxnSp>
        <p:nvCxnSpPr>
          <p:cNvPr id="4" name="Connector 3"/>
          <p:cNvCxnSpPr/>
          <p:nvPr/>
        </p:nvCxnSpPr>
        <p:spPr>
          <a:xfrm>
            <a:off x="640080" y="6217920"/>
            <a:ext cx="10911535" cy="0"/>
          </a:xfrm>
          <a:prstGeom prst="line">
            <a:avLst/>
          </a:prstGeom>
          <a:ln w="9525">
            <a:solidFill>
              <a:srgbClr val="DEDFD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i="0">
                <a:solidFill>
                  <a:srgbClr val="22241F"/>
                </a:solidFill>
                <a:latin typeface="Helvetica Neue"/>
              </a:rPr>
              <a:t>Built, and </a:t>
            </a:r>
            <a:r>
              <a:rPr sz="3600" b="0" i="1">
                <a:solidFill>
                  <a:srgbClr val="22241F"/>
                </a:solidFill>
                <a:latin typeface="Georgia"/>
              </a:rPr>
              <a:t>paying on devnet</a:t>
            </a:r>
            <a:r>
              <a:rPr sz="3600" b="1" i="0">
                <a:solidFill>
                  <a:srgbClr val="22241F"/>
                </a:solidFill>
                <a:latin typeface="Helvetica Neue"/>
              </a:rPr>
              <a:t> today</a:t>
            </a:r>
          </a:p>
        </p:txBody>
      </p:sp>
      <p:sp>
        <p:nvSpPr>
          <p:cNvPr id="6" name="Rounded Rectangle 5"/>
          <p:cNvSpPr/>
          <p:nvPr/>
        </p:nvSpPr>
        <p:spPr>
          <a:xfrm>
            <a:off x="640080" y="2057400"/>
            <a:ext cx="2606040" cy="210312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331720"/>
            <a:ext cx="2057400" cy="822960"/>
          </a:xfrm>
          <a:prstGeom prst="rect">
            <a:avLst/>
          </a:prstGeom>
          <a:noFill/>
        </p:spPr>
        <p:txBody>
          <a:bodyPr wrap="square" lIns="0" rIns="0" tIns="0" bIns="0" anchor="t">
            <a:spAutoFit/>
          </a:bodyPr>
          <a:lstStyle/>
          <a:p>
            <a:pPr algn="l"/>
            <a:r>
              <a:rPr sz="4800" b="1" i="0">
                <a:solidFill>
                  <a:srgbClr val="22241F"/>
                </a:solidFill>
                <a:latin typeface="Helvetica Neue"/>
              </a:rPr>
              <a:t>1,622</a:t>
            </a:r>
          </a:p>
        </p:txBody>
      </p:sp>
      <p:sp>
        <p:nvSpPr>
          <p:cNvPr id="8" name="TextBox 7"/>
          <p:cNvSpPr txBox="1"/>
          <p:nvPr/>
        </p:nvSpPr>
        <p:spPr>
          <a:xfrm>
            <a:off x="914400" y="3200400"/>
            <a:ext cx="2057400" cy="914400"/>
          </a:xfrm>
          <a:prstGeom prst="rect">
            <a:avLst/>
          </a:prstGeom>
          <a:noFill/>
        </p:spPr>
        <p:txBody>
          <a:bodyPr wrap="square" lIns="0" rIns="0" tIns="0" bIns="0" anchor="t">
            <a:spAutoFit/>
          </a:bodyPr>
          <a:lstStyle/>
          <a:p>
            <a:pPr algn="l"/>
            <a:r>
              <a:rPr sz="1350" b="0" i="0">
                <a:solidFill>
                  <a:srgbClr val="666B60"/>
                </a:solidFill>
                <a:latin typeface="Helvetica Neue"/>
              </a:rPr>
              <a:t>providers across Pay.sh, Circle, PayAI and Coinbase's x402 Bazaar</a:t>
            </a:r>
          </a:p>
        </p:txBody>
      </p:sp>
      <p:sp>
        <p:nvSpPr>
          <p:cNvPr id="9" name="Rounded Rectangle 8"/>
          <p:cNvSpPr/>
          <p:nvPr/>
        </p:nvSpPr>
        <p:spPr>
          <a:xfrm>
            <a:off x="3493008" y="2057400"/>
            <a:ext cx="2606040" cy="210312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767328" y="2331720"/>
            <a:ext cx="2057400" cy="822960"/>
          </a:xfrm>
          <a:prstGeom prst="rect">
            <a:avLst/>
          </a:prstGeom>
          <a:noFill/>
        </p:spPr>
        <p:txBody>
          <a:bodyPr wrap="square" lIns="0" rIns="0" tIns="0" bIns="0" anchor="t">
            <a:spAutoFit/>
          </a:bodyPr>
          <a:lstStyle/>
          <a:p>
            <a:pPr algn="l"/>
            <a:r>
              <a:rPr sz="4800" b="1" i="0">
                <a:solidFill>
                  <a:srgbClr val="22241F"/>
                </a:solidFill>
                <a:latin typeface="Helvetica Neue"/>
              </a:rPr>
              <a:t>14</a:t>
            </a:r>
          </a:p>
        </p:txBody>
      </p:sp>
      <p:sp>
        <p:nvSpPr>
          <p:cNvPr id="11" name="TextBox 10"/>
          <p:cNvSpPr txBox="1"/>
          <p:nvPr/>
        </p:nvSpPr>
        <p:spPr>
          <a:xfrm>
            <a:off x="3767328" y="3200400"/>
            <a:ext cx="2057400" cy="914400"/>
          </a:xfrm>
          <a:prstGeom prst="rect">
            <a:avLst/>
          </a:prstGeom>
          <a:noFill/>
        </p:spPr>
        <p:txBody>
          <a:bodyPr wrap="square" lIns="0" rIns="0" tIns="0" bIns="0" anchor="t">
            <a:spAutoFit/>
          </a:bodyPr>
          <a:lstStyle/>
          <a:p>
            <a:pPr algn="l"/>
            <a:r>
              <a:rPr sz="1350" b="0" i="0">
                <a:solidFill>
                  <a:srgbClr val="666B60"/>
                </a:solidFill>
                <a:latin typeface="Helvetica Neue"/>
              </a:rPr>
              <a:t>kinds of work, one input shape each; 280 endpoints routable today</a:t>
            </a:r>
          </a:p>
        </p:txBody>
      </p:sp>
      <p:sp>
        <p:nvSpPr>
          <p:cNvPr id="12" name="Rounded Rectangle 11"/>
          <p:cNvSpPr/>
          <p:nvPr/>
        </p:nvSpPr>
        <p:spPr>
          <a:xfrm>
            <a:off x="6345936" y="2057400"/>
            <a:ext cx="2606040" cy="210312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620256" y="2331720"/>
            <a:ext cx="2057400" cy="822960"/>
          </a:xfrm>
          <a:prstGeom prst="rect">
            <a:avLst/>
          </a:prstGeom>
          <a:noFill/>
        </p:spPr>
        <p:txBody>
          <a:bodyPr wrap="square" lIns="0" rIns="0" tIns="0" bIns="0" anchor="t">
            <a:spAutoFit/>
          </a:bodyPr>
          <a:lstStyle/>
          <a:p>
            <a:pPr algn="l"/>
            <a:r>
              <a:rPr sz="4800" b="1" i="0">
                <a:solidFill>
                  <a:srgbClr val="22241F"/>
                </a:solidFill>
                <a:latin typeface="Helvetica Neue"/>
              </a:rPr>
              <a:t>6,131</a:t>
            </a:r>
          </a:p>
        </p:txBody>
      </p:sp>
      <p:sp>
        <p:nvSpPr>
          <p:cNvPr id="14" name="TextBox 13"/>
          <p:cNvSpPr txBox="1"/>
          <p:nvPr/>
        </p:nvSpPr>
        <p:spPr>
          <a:xfrm>
            <a:off x="6620256" y="3200400"/>
            <a:ext cx="2057400" cy="914400"/>
          </a:xfrm>
          <a:prstGeom prst="rect">
            <a:avLst/>
          </a:prstGeom>
          <a:noFill/>
        </p:spPr>
        <p:txBody>
          <a:bodyPr wrap="square" lIns="0" rIns="0" tIns="0" bIns="0" anchor="t">
            <a:spAutoFit/>
          </a:bodyPr>
          <a:lstStyle/>
          <a:p>
            <a:pPr algn="l"/>
            <a:r>
              <a:rPr sz="1350" b="0" i="0">
                <a:solidFill>
                  <a:srgbClr val="666B60"/>
                </a:solidFill>
                <a:latin typeface="Helvetica Neue"/>
              </a:rPr>
              <a:t>paid endpoints tracked, refreshed every six hours, payee pinned</a:t>
            </a:r>
          </a:p>
        </p:txBody>
      </p:sp>
      <p:sp>
        <p:nvSpPr>
          <p:cNvPr id="15" name="Rounded Rectangle 14"/>
          <p:cNvSpPr/>
          <p:nvPr/>
        </p:nvSpPr>
        <p:spPr>
          <a:xfrm>
            <a:off x="9198863" y="2057400"/>
            <a:ext cx="2606040" cy="2103120"/>
          </a:xfrm>
          <a:prstGeom prst="roundRect">
            <a:avLst>
              <a:gd name="adj" fmla="val 6000"/>
            </a:avLst>
          </a:prstGeom>
          <a:solidFill>
            <a:srgbClr val="FFFFFF"/>
          </a:solidFill>
          <a:ln w="12700">
            <a:solidFill>
              <a:srgbClr val="DED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473184" y="2331720"/>
            <a:ext cx="2057400" cy="822960"/>
          </a:xfrm>
          <a:prstGeom prst="rect">
            <a:avLst/>
          </a:prstGeom>
          <a:noFill/>
        </p:spPr>
        <p:txBody>
          <a:bodyPr wrap="square" lIns="0" rIns="0" tIns="0" bIns="0" anchor="t">
            <a:spAutoFit/>
          </a:bodyPr>
          <a:lstStyle/>
          <a:p>
            <a:pPr algn="l"/>
            <a:r>
              <a:rPr sz="4800" b="1" i="0">
                <a:solidFill>
                  <a:srgbClr val="22241F"/>
                </a:solidFill>
                <a:latin typeface="Helvetica Neue"/>
              </a:rPr>
              <a:t>24</a:t>
            </a:r>
          </a:p>
        </p:txBody>
      </p:sp>
      <p:sp>
        <p:nvSpPr>
          <p:cNvPr id="17" name="TextBox 16"/>
          <p:cNvSpPr txBox="1"/>
          <p:nvPr/>
        </p:nvSpPr>
        <p:spPr>
          <a:xfrm>
            <a:off x="9473184" y="3200400"/>
            <a:ext cx="2057400" cy="914400"/>
          </a:xfrm>
          <a:prstGeom prst="rect">
            <a:avLst/>
          </a:prstGeom>
          <a:noFill/>
        </p:spPr>
        <p:txBody>
          <a:bodyPr wrap="square" lIns="0" rIns="0" tIns="0" bIns="0" anchor="t">
            <a:spAutoFit/>
          </a:bodyPr>
          <a:lstStyle/>
          <a:p>
            <a:pPr algn="l"/>
            <a:r>
              <a:rPr sz="1350" b="0" i="0">
                <a:solidFill>
                  <a:srgbClr val="666B60"/>
                </a:solidFill>
                <a:latin typeface="Helvetica Neue"/>
              </a:rPr>
              <a:t>tests on the Solana program: 13 unit and 11 LiteSVM</a:t>
            </a:r>
          </a:p>
        </p:txBody>
      </p:sp>
      <p:sp>
        <p:nvSpPr>
          <p:cNvPr id="18" name="TextBox 17"/>
          <p:cNvSpPr txBox="1"/>
          <p:nvPr/>
        </p:nvSpPr>
        <p:spPr>
          <a:xfrm>
            <a:off x="640080" y="4434840"/>
            <a:ext cx="10972800" cy="411480"/>
          </a:xfrm>
          <a:prstGeom prst="rect">
            <a:avLst/>
          </a:prstGeom>
          <a:noFill/>
        </p:spPr>
        <p:txBody>
          <a:bodyPr wrap="square" lIns="0" rIns="0" tIns="0" bIns="0" anchor="t">
            <a:spAutoFit/>
          </a:bodyPr>
          <a:lstStyle/>
          <a:p>
            <a:pPr algn="l"/>
            <a:r>
              <a:rPr sz="1600" b="1" i="0">
                <a:solidFill>
                  <a:srgbClr val="2D3927"/>
                </a:solidFill>
                <a:latin typeface="Helvetica Neue"/>
              </a:rPr>
              <a:t>✓  </a:t>
            </a:r>
            <a:r>
              <a:rPr sz="1600" b="1" i="0">
                <a:solidFill>
                  <a:srgbClr val="22241F"/>
                </a:solidFill>
                <a:latin typeface="Helvetica Neue"/>
              </a:rPr>
              <a:t>Real devnet USDC payments:</a:t>
            </a:r>
            <a:r>
              <a:rPr sz="1600" b="0" i="0">
                <a:solidFill>
                  <a:srgbClr val="666B60"/>
                </a:solidFill>
                <a:latin typeface="Helvetica Neue"/>
              </a:rPr>
              <a:t> exact, metered through payment channels, and pulled from an on-chain Spend Pass.</a:t>
            </a:r>
          </a:p>
        </p:txBody>
      </p:sp>
      <p:sp>
        <p:nvSpPr>
          <p:cNvPr id="19" name="TextBox 18"/>
          <p:cNvSpPr txBox="1"/>
          <p:nvPr/>
        </p:nvSpPr>
        <p:spPr>
          <a:xfrm>
            <a:off x="640080" y="4892040"/>
            <a:ext cx="10972800" cy="411480"/>
          </a:xfrm>
          <a:prstGeom prst="rect">
            <a:avLst/>
          </a:prstGeom>
          <a:noFill/>
        </p:spPr>
        <p:txBody>
          <a:bodyPr wrap="square" lIns="0" rIns="0" tIns="0" bIns="0" anchor="t">
            <a:spAutoFit/>
          </a:bodyPr>
          <a:lstStyle/>
          <a:p>
            <a:pPr algn="l"/>
            <a:r>
              <a:rPr sz="1600" b="1" i="0">
                <a:solidFill>
                  <a:srgbClr val="2D3927"/>
                </a:solidFill>
                <a:latin typeface="Helvetica Neue"/>
              </a:rPr>
              <a:t>✓  </a:t>
            </a:r>
            <a:r>
              <a:rPr sz="1600" b="1" i="0">
                <a:solidFill>
                  <a:srgbClr val="22241F"/>
                </a:solidFill>
                <a:latin typeface="Helvetica Neue"/>
              </a:rPr>
              <a:t>Same request twice, paid once:</a:t>
            </a:r>
            <a:r>
              <a:rPr sz="1600" b="0" i="0">
                <a:solidFill>
                  <a:srgbClr val="666B60"/>
                </a:solidFill>
                <a:latin typeface="Helvetica Neue"/>
              </a:rPr>
              <a:t> the second call returns the kept answer.</a:t>
            </a:r>
          </a:p>
        </p:txBody>
      </p:sp>
      <p:sp>
        <p:nvSpPr>
          <p:cNvPr id="20" name="TextBox 19"/>
          <p:cNvSpPr txBox="1"/>
          <p:nvPr/>
        </p:nvSpPr>
        <p:spPr>
          <a:xfrm>
            <a:off x="640080" y="5349240"/>
            <a:ext cx="10972800" cy="411480"/>
          </a:xfrm>
          <a:prstGeom prst="rect">
            <a:avLst/>
          </a:prstGeom>
          <a:noFill/>
        </p:spPr>
        <p:txBody>
          <a:bodyPr wrap="square" lIns="0" rIns="0" tIns="0" bIns="0" anchor="t">
            <a:spAutoFit/>
          </a:bodyPr>
          <a:lstStyle/>
          <a:p>
            <a:pPr algn="l"/>
            <a:r>
              <a:rPr sz="1600" b="1" i="0">
                <a:solidFill>
                  <a:srgbClr val="2D3927"/>
                </a:solidFill>
                <a:latin typeface="Helvetica Neue"/>
              </a:rPr>
              <a:t>✓  </a:t>
            </a:r>
            <a:r>
              <a:rPr sz="1600" b="1" i="0">
                <a:solidFill>
                  <a:srgbClr val="22241F"/>
                </a:solidFill>
                <a:latin typeface="Helvetica Neue"/>
              </a:rPr>
              <a:t>Mainnet is read-only on purpose:</a:t>
            </a:r>
            <a:r>
              <a:rPr sz="1600" b="0" i="0">
                <a:solidFill>
                  <a:srgbClr val="666B60"/>
                </a:solidFill>
                <a:latin typeface="Helvetica Neue"/>
              </a:rPr>
              <a:t> quotes and dry runs work; payments wait for an 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2241F"/>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lIns="0" rIns="0" tIns="0" bIns="0" anchor="t">
            <a:spAutoFit/>
          </a:bodyPr>
          <a:lstStyle/>
          <a:p>
            <a:pPr algn="l"/>
            <a:r>
              <a:rPr sz="1100" b="0" i="0">
                <a:solidFill>
                  <a:srgbClr val="666B60"/>
                </a:solidFill>
                <a:latin typeface="Menlo"/>
              </a:rPr>
              <a:t>LIVE DEMO  ·  3 MIN</a:t>
            </a:r>
          </a:p>
        </p:txBody>
      </p:sp>
      <p:sp>
        <p:nvSpPr>
          <p:cNvPr id="3" name="TextBox 2"/>
          <p:cNvSpPr txBox="1"/>
          <p:nvPr/>
        </p:nvSpPr>
        <p:spPr>
          <a:xfrm>
            <a:off x="640080" y="1554480"/>
            <a:ext cx="10972800" cy="1280160"/>
          </a:xfrm>
          <a:prstGeom prst="rect">
            <a:avLst/>
          </a:prstGeom>
          <a:noFill/>
        </p:spPr>
        <p:txBody>
          <a:bodyPr wrap="square" lIns="0" rIns="0" tIns="0" bIns="0" anchor="t">
            <a:spAutoFit/>
          </a:bodyPr>
          <a:lstStyle/>
          <a:p>
            <a:pPr algn="l"/>
            <a:r>
              <a:rPr sz="7200" b="1" i="0">
                <a:solidFill>
                  <a:srgbClr val="FFFFFF"/>
                </a:solidFill>
                <a:latin typeface="Helvetica Neue"/>
              </a:rPr>
              <a:t>Watch it </a:t>
            </a:r>
            <a:r>
              <a:rPr sz="7200" b="0" i="1">
                <a:solidFill>
                  <a:srgbClr val="BAD59C"/>
                </a:solidFill>
                <a:latin typeface="Georgia"/>
              </a:rPr>
              <a:t>say no.</a:t>
            </a:r>
          </a:p>
        </p:txBody>
      </p:sp>
      <p:sp>
        <p:nvSpPr>
          <p:cNvPr id="4" name="Oval 3"/>
          <p:cNvSpPr/>
          <p:nvPr/>
        </p:nvSpPr>
        <p:spPr>
          <a:xfrm>
            <a:off x="640080" y="3337560"/>
            <a:ext cx="457200" cy="457200"/>
          </a:xfrm>
          <a:prstGeom prst="ellipse">
            <a:avLst/>
          </a:prstGeom>
          <a:solidFill>
            <a:srgbClr val="BAD5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337560"/>
            <a:ext cx="457200" cy="457200"/>
          </a:xfrm>
          <a:prstGeom prst="rect">
            <a:avLst/>
          </a:prstGeom>
          <a:noFill/>
        </p:spPr>
        <p:txBody>
          <a:bodyPr wrap="square" lIns="0" rIns="0" tIns="0" bIns="0" anchor="ctr">
            <a:spAutoFit/>
          </a:bodyPr>
          <a:lstStyle/>
          <a:p>
            <a:pPr algn="ctr"/>
            <a:r>
              <a:rPr sz="1600" b="1" i="0">
                <a:solidFill>
                  <a:srgbClr val="2D3927"/>
                </a:solidFill>
                <a:latin typeface="Helvetica Neue"/>
              </a:rPr>
              <a:t>1</a:t>
            </a:r>
          </a:p>
        </p:txBody>
      </p:sp>
      <p:sp>
        <p:nvSpPr>
          <p:cNvPr id="6" name="TextBox 5"/>
          <p:cNvSpPr txBox="1"/>
          <p:nvPr/>
        </p:nvSpPr>
        <p:spPr>
          <a:xfrm>
            <a:off x="1371600" y="3374136"/>
            <a:ext cx="10058400" cy="457200"/>
          </a:xfrm>
          <a:prstGeom prst="rect">
            <a:avLst/>
          </a:prstGeom>
          <a:noFill/>
        </p:spPr>
        <p:txBody>
          <a:bodyPr wrap="square" lIns="0" rIns="0" tIns="0" bIns="0" anchor="ctr">
            <a:spAutoFit/>
          </a:bodyPr>
          <a:lstStyle/>
          <a:p>
            <a:pPr algn="l"/>
            <a:r>
              <a:rPr sz="2000" b="1" i="0">
                <a:solidFill>
                  <a:srgbClr val="FFFFFF"/>
                </a:solidFill>
                <a:latin typeface="Helvetica Neue"/>
              </a:rPr>
              <a:t>Dry run  </a:t>
            </a:r>
            <a:r>
              <a:rPr sz="2000" b="0" i="0">
                <a:solidFill>
                  <a:srgbClr val="DEDFD6"/>
                </a:solidFill>
                <a:latin typeface="Helvetica Neue"/>
              </a:rPr>
              <a:t>— four bad providers refused, each with its reason. Nothing paid.</a:t>
            </a:r>
          </a:p>
        </p:txBody>
      </p:sp>
      <p:sp>
        <p:nvSpPr>
          <p:cNvPr id="7" name="Oval 6"/>
          <p:cNvSpPr/>
          <p:nvPr/>
        </p:nvSpPr>
        <p:spPr>
          <a:xfrm>
            <a:off x="640080" y="4114800"/>
            <a:ext cx="457200" cy="457200"/>
          </a:xfrm>
          <a:prstGeom prst="ellipse">
            <a:avLst/>
          </a:prstGeom>
          <a:solidFill>
            <a:srgbClr val="BAD5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14800"/>
            <a:ext cx="457200" cy="457200"/>
          </a:xfrm>
          <a:prstGeom prst="rect">
            <a:avLst/>
          </a:prstGeom>
          <a:noFill/>
        </p:spPr>
        <p:txBody>
          <a:bodyPr wrap="square" lIns="0" rIns="0" tIns="0" bIns="0" anchor="ctr">
            <a:spAutoFit/>
          </a:bodyPr>
          <a:lstStyle/>
          <a:p>
            <a:pPr algn="ctr"/>
            <a:r>
              <a:rPr sz="1600" b="1" i="0">
                <a:solidFill>
                  <a:srgbClr val="2D3927"/>
                </a:solidFill>
                <a:latin typeface="Helvetica Neue"/>
              </a:rPr>
              <a:t>2</a:t>
            </a:r>
          </a:p>
        </p:txBody>
      </p:sp>
      <p:sp>
        <p:nvSpPr>
          <p:cNvPr id="9" name="TextBox 8"/>
          <p:cNvSpPr txBox="1"/>
          <p:nvPr/>
        </p:nvSpPr>
        <p:spPr>
          <a:xfrm>
            <a:off x="1371600" y="4151376"/>
            <a:ext cx="10058400" cy="457200"/>
          </a:xfrm>
          <a:prstGeom prst="rect">
            <a:avLst/>
          </a:prstGeom>
          <a:noFill/>
        </p:spPr>
        <p:txBody>
          <a:bodyPr wrap="square" lIns="0" rIns="0" tIns="0" bIns="0" anchor="ctr">
            <a:spAutoFit/>
          </a:bodyPr>
          <a:lstStyle/>
          <a:p>
            <a:pPr algn="l"/>
            <a:r>
              <a:rPr sz="2000" b="1" i="0">
                <a:solidFill>
                  <a:srgbClr val="FFFFFF"/>
                </a:solidFill>
                <a:latin typeface="Helvetica Neue"/>
              </a:rPr>
              <a:t>Execute  </a:t>
            </a:r>
            <a:r>
              <a:rPr sz="2000" b="0" i="0">
                <a:solidFill>
                  <a:srgbClr val="DEDFD6"/>
                </a:solidFill>
                <a:latin typeface="Helvetica Neue"/>
              </a:rPr>
              <a:t>— the best one paid once, with a signed receipt.</a:t>
            </a:r>
          </a:p>
        </p:txBody>
      </p:sp>
      <p:sp>
        <p:nvSpPr>
          <p:cNvPr id="10" name="Oval 9"/>
          <p:cNvSpPr/>
          <p:nvPr/>
        </p:nvSpPr>
        <p:spPr>
          <a:xfrm>
            <a:off x="640080" y="4892040"/>
            <a:ext cx="457200" cy="457200"/>
          </a:xfrm>
          <a:prstGeom prst="ellipse">
            <a:avLst/>
          </a:prstGeom>
          <a:solidFill>
            <a:srgbClr val="BAD5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892040"/>
            <a:ext cx="457200" cy="457200"/>
          </a:xfrm>
          <a:prstGeom prst="rect">
            <a:avLst/>
          </a:prstGeom>
          <a:noFill/>
        </p:spPr>
        <p:txBody>
          <a:bodyPr wrap="square" lIns="0" rIns="0" tIns="0" bIns="0" anchor="ctr">
            <a:spAutoFit/>
          </a:bodyPr>
          <a:lstStyle/>
          <a:p>
            <a:pPr algn="ctr"/>
            <a:r>
              <a:rPr sz="1600" b="1" i="0">
                <a:solidFill>
                  <a:srgbClr val="2D3927"/>
                </a:solidFill>
                <a:latin typeface="Helvetica Neue"/>
              </a:rPr>
              <a:t>3</a:t>
            </a:r>
          </a:p>
        </p:txBody>
      </p:sp>
      <p:sp>
        <p:nvSpPr>
          <p:cNvPr id="12" name="TextBox 11"/>
          <p:cNvSpPr txBox="1"/>
          <p:nvPr/>
        </p:nvSpPr>
        <p:spPr>
          <a:xfrm>
            <a:off x="1371600" y="4928616"/>
            <a:ext cx="10058400" cy="457200"/>
          </a:xfrm>
          <a:prstGeom prst="rect">
            <a:avLst/>
          </a:prstGeom>
          <a:noFill/>
        </p:spPr>
        <p:txBody>
          <a:bodyPr wrap="square" lIns="0" rIns="0" tIns="0" bIns="0" anchor="ctr">
            <a:spAutoFit/>
          </a:bodyPr>
          <a:lstStyle/>
          <a:p>
            <a:pPr algn="l"/>
            <a:r>
              <a:rPr sz="2000" b="1" i="0">
                <a:solidFill>
                  <a:srgbClr val="FFFFFF"/>
                </a:solidFill>
                <a:latin typeface="Helvetica Neue"/>
              </a:rPr>
              <a:t>Kill switch  </a:t>
            </a:r>
            <a:r>
              <a:rPr sz="2000" b="0" i="0">
                <a:solidFill>
                  <a:srgbClr val="DEDFD6"/>
                </a:solidFill>
                <a:latin typeface="Helvetica Neue"/>
              </a:rPr>
              <a:t>— one click and every agent stops, even mid-payment.</a:t>
            </a:r>
          </a:p>
        </p:txBody>
      </p:sp>
      <p:sp>
        <p:nvSpPr>
          <p:cNvPr id="13" name="TextBox 12"/>
          <p:cNvSpPr txBox="1"/>
          <p:nvPr/>
        </p:nvSpPr>
        <p:spPr>
          <a:xfrm>
            <a:off x="640080" y="6035040"/>
            <a:ext cx="10972800" cy="365760"/>
          </a:xfrm>
          <a:prstGeom prst="rect">
            <a:avLst/>
          </a:prstGeom>
          <a:noFill/>
        </p:spPr>
        <p:txBody>
          <a:bodyPr wrap="square" lIns="0" rIns="0" tIns="0" bIns="0" anchor="t">
            <a:spAutoFit/>
          </a:bodyPr>
          <a:lstStyle/>
          <a:p>
            <a:pPr algn="l"/>
            <a:r>
              <a:rPr sz="1200" b="0" i="0">
                <a:solidFill>
                  <a:srgbClr val="666B60"/>
                </a:solidFill>
                <a:latin typeface="Menlo"/>
              </a:rPr>
              <a:t>Sandbox: simulated USDC and simulated sellers, some built to misbehave. The same code pays real USDC on devnet.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8F3"/>
        </a:solidFill>
        <a:effectLst/>
      </p:bgPr>
    </p:bg>
    <p:spTree>
      <p:nvGrpSpPr>
        <p:cNvPr id="1" name=""/>
        <p:cNvGrpSpPr/>
        <p:nvPr/>
      </p:nvGrpSpPr>
      <p:grpSpPr/>
      <p:sp>
        <p:nvSpPr>
          <p:cNvPr id="2" name="Rounded Rectangle 1"/>
          <p:cNvSpPr/>
          <p:nvPr/>
        </p:nvSpPr>
        <p:spPr>
          <a:xfrm>
            <a:off x="640080" y="548640"/>
            <a:ext cx="384048" cy="384048"/>
          </a:xfrm>
          <a:prstGeom prst="roundRect">
            <a:avLst>
              <a:gd name="adj" fmla="val 28000"/>
            </a:avLst>
          </a:prstGeom>
          <a:noFill/>
          <a:ln w="28575">
            <a:solidFill>
              <a:srgbClr val="22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3" y="548640"/>
            <a:ext cx="384048" cy="384048"/>
          </a:xfrm>
          <a:prstGeom prst="roundRect">
            <a:avLst>
              <a:gd name="adj" fmla="val 28000"/>
            </a:avLst>
          </a:prstGeom>
          <a:noFill/>
          <a:ln w="28575">
            <a:solidFill>
              <a:srgbClr val="22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3657600" cy="365760"/>
          </a:xfrm>
          <a:prstGeom prst="rect">
            <a:avLst/>
          </a:prstGeom>
          <a:noFill/>
        </p:spPr>
        <p:txBody>
          <a:bodyPr wrap="square" lIns="0" rIns="0" tIns="0" bIns="0" anchor="t">
            <a:spAutoFit/>
          </a:bodyPr>
          <a:lstStyle/>
          <a:p>
            <a:pPr algn="l"/>
            <a:r>
              <a:rPr sz="2200" b="1" i="0">
                <a:solidFill>
                  <a:srgbClr val="22241F"/>
                </a:solidFill>
                <a:latin typeface="Helvetica Neue"/>
              </a:rPr>
              <a:t>Algebra</a:t>
            </a:r>
          </a:p>
        </p:txBody>
      </p:sp>
      <p:sp>
        <p:nvSpPr>
          <p:cNvPr id="5" name="TextBox 4"/>
          <p:cNvSpPr txBox="1"/>
          <p:nvPr/>
        </p:nvSpPr>
        <p:spPr>
          <a:xfrm>
            <a:off x="640080" y="1737360"/>
            <a:ext cx="10972800" cy="1097280"/>
          </a:xfrm>
          <a:prstGeom prst="rect">
            <a:avLst/>
          </a:prstGeom>
          <a:noFill/>
        </p:spPr>
        <p:txBody>
          <a:bodyPr wrap="square" lIns="0" rIns="0" tIns="0" bIns="0" anchor="t">
            <a:spAutoFit/>
          </a:bodyPr>
          <a:lstStyle/>
          <a:p>
            <a:pPr algn="l"/>
            <a:r>
              <a:rPr sz="6400" b="1" i="0">
                <a:solidFill>
                  <a:srgbClr val="22241F"/>
                </a:solidFill>
                <a:latin typeface="Helvetica Neue"/>
              </a:rPr>
              <a:t>Agents can spend.</a:t>
            </a:r>
          </a:p>
        </p:txBody>
      </p:sp>
      <p:sp>
        <p:nvSpPr>
          <p:cNvPr id="6" name="TextBox 5"/>
          <p:cNvSpPr txBox="1"/>
          <p:nvPr/>
        </p:nvSpPr>
        <p:spPr>
          <a:xfrm>
            <a:off x="640080" y="2788920"/>
            <a:ext cx="10972800" cy="1097280"/>
          </a:xfrm>
          <a:prstGeom prst="rect">
            <a:avLst/>
          </a:prstGeom>
          <a:noFill/>
        </p:spPr>
        <p:txBody>
          <a:bodyPr wrap="square" lIns="0" rIns="0" tIns="0" bIns="0" anchor="t">
            <a:spAutoFit/>
          </a:bodyPr>
          <a:lstStyle/>
          <a:p>
            <a:pPr algn="l"/>
            <a:r>
              <a:rPr sz="6000" b="0" i="1">
                <a:solidFill>
                  <a:srgbClr val="666B60"/>
                </a:solidFill>
                <a:latin typeface="Georgia"/>
              </a:rPr>
              <a:t>Algebra decides how much.</a:t>
            </a:r>
          </a:p>
        </p:txBody>
      </p:sp>
      <p:sp>
        <p:nvSpPr>
          <p:cNvPr id="7" name="TextBox 6"/>
          <p:cNvSpPr txBox="1"/>
          <p:nvPr/>
        </p:nvSpPr>
        <p:spPr>
          <a:xfrm>
            <a:off x="640080" y="4114800"/>
            <a:ext cx="1188720" cy="365760"/>
          </a:xfrm>
          <a:prstGeom prst="rect">
            <a:avLst/>
          </a:prstGeom>
          <a:noFill/>
        </p:spPr>
        <p:txBody>
          <a:bodyPr wrap="square" lIns="0" rIns="0" tIns="0" bIns="0" anchor="t">
            <a:spAutoFit/>
          </a:bodyPr>
          <a:lstStyle/>
          <a:p>
            <a:pPr algn="l"/>
            <a:r>
              <a:rPr sz="1200" b="0" i="0">
                <a:solidFill>
                  <a:srgbClr val="666B60"/>
                </a:solidFill>
                <a:latin typeface="Menlo"/>
              </a:rPr>
              <a:t>NEXT</a:t>
            </a:r>
          </a:p>
        </p:txBody>
      </p:sp>
      <p:sp>
        <p:nvSpPr>
          <p:cNvPr id="8" name="TextBox 7"/>
          <p:cNvSpPr txBox="1"/>
          <p:nvPr/>
        </p:nvSpPr>
        <p:spPr>
          <a:xfrm>
            <a:off x="1828800" y="4087368"/>
            <a:ext cx="9144000" cy="411480"/>
          </a:xfrm>
          <a:prstGeom prst="rect">
            <a:avLst/>
          </a:prstGeom>
          <a:noFill/>
        </p:spPr>
        <p:txBody>
          <a:bodyPr wrap="square" lIns="0" rIns="0" tIns="0" bIns="0" anchor="t">
            <a:spAutoFit/>
          </a:bodyPr>
          <a:lstStyle/>
          <a:p>
            <a:pPr algn="l"/>
            <a:r>
              <a:rPr sz="1800" b="0" i="0">
                <a:solidFill>
                  <a:srgbClr val="22241F"/>
                </a:solidFill>
                <a:latin typeface="Helvetica Neue"/>
              </a:rPr>
              <a:t>Program audit, then mainnet payments behind on-chain passes</a:t>
            </a:r>
          </a:p>
        </p:txBody>
      </p:sp>
      <p:sp>
        <p:nvSpPr>
          <p:cNvPr id="9" name="TextBox 8"/>
          <p:cNvSpPr txBox="1"/>
          <p:nvPr/>
        </p:nvSpPr>
        <p:spPr>
          <a:xfrm>
            <a:off x="640080" y="4617720"/>
            <a:ext cx="1188720" cy="365760"/>
          </a:xfrm>
          <a:prstGeom prst="rect">
            <a:avLst/>
          </a:prstGeom>
          <a:noFill/>
        </p:spPr>
        <p:txBody>
          <a:bodyPr wrap="square" lIns="0" rIns="0" tIns="0" bIns="0" anchor="t">
            <a:spAutoFit/>
          </a:bodyPr>
          <a:lstStyle/>
          <a:p>
            <a:pPr algn="l"/>
            <a:r>
              <a:rPr sz="1200" b="0" i="0">
                <a:solidFill>
                  <a:srgbClr val="666B60"/>
                </a:solidFill>
                <a:latin typeface="Menlo"/>
              </a:rPr>
              <a:t>NEXT</a:t>
            </a:r>
          </a:p>
        </p:txBody>
      </p:sp>
      <p:sp>
        <p:nvSpPr>
          <p:cNvPr id="10" name="TextBox 9"/>
          <p:cNvSpPr txBox="1"/>
          <p:nvPr/>
        </p:nvSpPr>
        <p:spPr>
          <a:xfrm>
            <a:off x="1828800" y="4590288"/>
            <a:ext cx="9144000" cy="411480"/>
          </a:xfrm>
          <a:prstGeom prst="rect">
            <a:avLst/>
          </a:prstGeom>
          <a:noFill/>
        </p:spPr>
        <p:txBody>
          <a:bodyPr wrap="square" lIns="0" rIns="0" tIns="0" bIns="0" anchor="t">
            <a:spAutoFit/>
          </a:bodyPr>
          <a:lstStyle/>
          <a:p>
            <a:pPr algn="l"/>
            <a:r>
              <a:rPr sz="1800" b="0" i="0">
                <a:solidFill>
                  <a:srgbClr val="22241F"/>
                </a:solidFill>
                <a:latin typeface="Helvetica Neue"/>
              </a:rPr>
              <a:t>More catalogs and kinds of work; paid plans for teams</a:t>
            </a:r>
          </a:p>
        </p:txBody>
      </p:sp>
      <p:sp>
        <p:nvSpPr>
          <p:cNvPr id="11" name="TextBox 10"/>
          <p:cNvSpPr txBox="1"/>
          <p:nvPr/>
        </p:nvSpPr>
        <p:spPr>
          <a:xfrm>
            <a:off x="640080" y="5120640"/>
            <a:ext cx="1188720" cy="365760"/>
          </a:xfrm>
          <a:prstGeom prst="rect">
            <a:avLst/>
          </a:prstGeom>
          <a:noFill/>
        </p:spPr>
        <p:txBody>
          <a:bodyPr wrap="square" lIns="0" rIns="0" tIns="0" bIns="0" anchor="t">
            <a:spAutoFit/>
          </a:bodyPr>
          <a:lstStyle/>
          <a:p>
            <a:pPr algn="l"/>
            <a:r>
              <a:rPr sz="1200" b="0" i="0">
                <a:solidFill>
                  <a:srgbClr val="666B60"/>
                </a:solidFill>
                <a:latin typeface="Menlo"/>
              </a:rPr>
              <a:t>TRY IT</a:t>
            </a:r>
          </a:p>
        </p:txBody>
      </p:sp>
      <p:sp>
        <p:nvSpPr>
          <p:cNvPr id="12" name="TextBox 11"/>
          <p:cNvSpPr txBox="1"/>
          <p:nvPr/>
        </p:nvSpPr>
        <p:spPr>
          <a:xfrm>
            <a:off x="1828800" y="5093207"/>
            <a:ext cx="9144000" cy="411480"/>
          </a:xfrm>
          <a:prstGeom prst="rect">
            <a:avLst/>
          </a:prstGeom>
          <a:noFill/>
        </p:spPr>
        <p:txBody>
          <a:bodyPr wrap="square" lIns="0" rIns="0" tIns="0" bIns="0" anchor="t">
            <a:spAutoFit/>
          </a:bodyPr>
          <a:lstStyle/>
          <a:p>
            <a:pPr algn="l"/>
            <a:r>
              <a:rPr sz="1800" b="0" i="0">
                <a:solidFill>
                  <a:srgbClr val="22241F"/>
                </a:solidFill>
                <a:latin typeface="Helvetica Neue"/>
              </a:rPr>
              <a:t>REST or MCP: one key, a Spend Pass, and your agent is ready</a:t>
            </a:r>
          </a:p>
        </p:txBody>
      </p:sp>
      <p:sp>
        <p:nvSpPr>
          <p:cNvPr id="13" name="TextBox 12"/>
          <p:cNvSpPr txBox="1"/>
          <p:nvPr/>
        </p:nvSpPr>
        <p:spPr>
          <a:xfrm>
            <a:off x="640080" y="5760720"/>
            <a:ext cx="6400800" cy="365760"/>
          </a:xfrm>
          <a:prstGeom prst="rect">
            <a:avLst/>
          </a:prstGeom>
          <a:noFill/>
        </p:spPr>
        <p:txBody>
          <a:bodyPr wrap="square" lIns="0" rIns="0" tIns="0" bIns="0" anchor="t">
            <a:spAutoFit/>
          </a:bodyPr>
          <a:lstStyle/>
          <a:p>
            <a:pPr algn="l"/>
            <a:r>
              <a:rPr sz="1400" b="0" i="0">
                <a:solidFill>
                  <a:srgbClr val="22241F"/>
                </a:solidFill>
                <a:latin typeface="Menlo"/>
              </a:rPr>
              <a:t>github.com/anshitraj/algebra-ai</a:t>
            </a:r>
          </a:p>
        </p:txBody>
      </p:sp>
      <p:sp>
        <p:nvSpPr>
          <p:cNvPr id="14" name="TextBox 13"/>
          <p:cNvSpPr txBox="1"/>
          <p:nvPr/>
        </p:nvSpPr>
        <p:spPr>
          <a:xfrm>
            <a:off x="8351215" y="5623560"/>
            <a:ext cx="3200400" cy="548640"/>
          </a:xfrm>
          <a:prstGeom prst="rect">
            <a:avLst/>
          </a:prstGeom>
          <a:noFill/>
        </p:spPr>
        <p:txBody>
          <a:bodyPr wrap="square" lIns="0" rIns="0" tIns="0" bIns="0" anchor="t">
            <a:spAutoFit/>
          </a:bodyPr>
          <a:lstStyle/>
          <a:p>
            <a:pPr algn="r"/>
            <a:r>
              <a:rPr sz="3000" b="0" i="1">
                <a:solidFill>
                  <a:srgbClr val="22241F"/>
                </a:solidFill>
                <a:latin typeface="Georg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